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одукт" id="{18616971-13a9-7174-8fb9-f3513fd04d6f}">
          <p14:sldIdLst>
            <p14:sldId id="256"/>
            <p14:sldId id="257"/>
            <p14:sldId id="258"/>
            <p14:sldId id="259"/>
            <p14:sldId id="260"/>
          </p14:sldIdLst>
        </p14:section>
        <p14:section name="Как сделано" id="{57a6e7a7-98fe-9cd1-d4cd-c08223d09ecf}">
          <p14:sldIdLst>
            <p14:sldId id="261"/>
            <p14:sldId id="262"/>
          </p14:sldIdLst>
        </p14:section>
        <p14:section name="AI в разработке" id="{940dfaef-5a8e-6027-85d0-1052be06137b}">
          <p14:sldIdLst>
            <p14:sldId id="263"/>
            <p14:sldId id="264"/>
            <p14:sldId id="265"/>
          </p14:sldIdLst>
        </p14:section>
        <p14:section name="Итоги" id="{5fa86072-9b55-eb55-4b2a-306f7c987d0b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3A2E3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3A2E3A"/>
                </a:solidFill>
                <a:latin typeface="+mn-lt"/>
              </a:rPr>
              <a:t>Автотесты по этапам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Автотесты</c:v>
                </c:pt>
              </c:strCache>
            </c:strRef>
          </c:tx>
          <c:spPr>
            <a:solidFill>
              <a:srgbClr val="8467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A2E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ДЗ 4</c:v>
                  </c:pt>
                  <c:pt idx="1">
                    <c:v>ДЗ 5</c:v>
                  </c:pt>
                  <c:pt idx="2">
                    <c:v>ДЗ 6</c:v>
                  </c:pt>
                  <c:pt idx="3">
                    <c:v>Итог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59</c:v>
                </c:pt>
                <c:pt idx="2">
                  <c:v>92</c:v>
                </c:pt>
                <c:pt idx="3">
                  <c:v>102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3A2E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364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Мой проект — Lerree Lab, личный кабинет участницы закрытого фитнес-клуба. Это реальный продукт: я веду его как проектный менеджер, а не как разработчик. Весь код, база, инфраструктура и документация сделаны AI-агентом Claude Code — я ставила задачи, принимала решения и проверяла результат. За 12 минут покажу продукт, как он устроен и как AI участвовал на каждом этапе.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Сейчас тренировки клуба раздаются так, как это делает большинство онлайн-тренеров: Telegram-канал, PDF и Google-документы. Отсюда четыре боли. Участница теряет рабочие веса. Видео с техникой тонут в ленте. Доступ после окончания подписки снимается вручную. И платный контент легко уходит к тем, кто не платил.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— один кабинет. Пять функций: программа на неделю, дневник подходов с подсказкой, что было в прошлый раз, личные замеры, библиотека материалов с поиском и вход с доступом строго по активной подписке. Справа экран тренировки — главный сценарий: участница в зале, с телефона, вписывает вес и видит прошлый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Анализ конкурентов делал AI-агент с веб-поиском, с обязательной ссылкой на источник для каждой цены. Три группы. Массовые платформы вроде FitStars — много тренеров, но нет дневника для зала. Платформы для тренеров вроде Trainerize ближе всего, но оплата идёт через Stripe, а он в России не работает. Трекеры вроде Hevy — отличный дневник, но без тренера. Наша ниша — всё это в одном месте, с оплатой из России.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можно переключиться на живой сайт lerree-lab-dz-cicd.vercel.app и войти как anna@demo.ru, пароль demo1234. Показать: программа → тренировка → вписать вес; замеры → изменить → удалить с подтверждением; переключатель «Сеть» — понятная ошибка вместо белого экрана. Потом войти как olga@demo.ru — подписка истекла, кабинет закрыт. Вёрстка mobile-first: участницы тренируются с телефоном в руке.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простая и без своего сервера. Клиент — React-приложение. Vercel отдаёт статику и держит две серверные функции: проверку здоровья и приёмник ошибок. Supabase — это PostgreSQL с защитой на уровне строк, вход и готовый REST API. Безопасность живёт в базе: даже с публичным ключом чужие замеры не прочитать. Снизу — CI/CD на GitHub Actions, Docker-образ и внешние сервисы.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Пробегусь по обязательным требованиям. Фронтенд — восемь экранов, адаптив, формы, все состояния. Бэкенд — семь связанных таблиц, CRUD, аутентификация, валидация на двух уровнях. Дополнительных функций нужно две — сделано четыре: Google, Метрика, поиск и оповещения. Инфраструктура — автодеплой, CI/CD, Docker и понятная история в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требование курса — AI на всех этапах. Проект прошёл шесть домашних заданий и итоговую доработку. Планирование: агент помог выбрать инструмент, мы написали правила проекта, сделали три UI-концепции, User Stories, ТЗ и анализ конкурентов. Разработка: каркас, компоненты по шаблону промпта, рефакторинг, тесты. Бэкенд и инфраструктура: схема, миграции, политики доступа, CI/CD, Docker. Отладка: разбор логов, оптимизация скорости и аудит безопасности. Подробно с промптами — в документе ai_development_process.md.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я работала с агентом. Слева — реальный промпт по шаблону RTCF: роль, задача, контекст, формат. Важно явно назвать негативные сценарии — обрыв связи, неверный ввод, иначе агент делает только счастливый путь. Справа — эксперимент из второго ДЗ: одна и та же задача без файла правил дала ноль из восьми критериев, с правилами — восемь из восьми. Вывод: правила проекта стоит завести до первой строчки кода.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ошибается — важно, как это ловить. Четыре реальных случая. Агент буквально перенёс структуру тестовых данных в базу — ошибку вскрыл простой вопрос «а если участниц две?». Проверка здоровья была зелёной, а кабинет собрался без базы — теперь CI проверяет саму сборку. Агент нашёл ошибку в своей миграции, потому что правило требовало прогнать её до отдачи. И в разборе логов он выдвинул гипотезу, которую мы проверили по коду и отклонили. Общий принцип: требовать доказательства, а не обещания.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Несколько цифр. Автотестов стало 102 — набор рос на каждом этапе, тесты пишет агент, а проверяю я по сценариям. Скорость по Lighthouse — 98–99 из 100, страница открывается за 1,7 секунды вместо почти четырёх. Аудит безопасности по OWASP нашёл шесть проблем, две серьёзные — все исправлены. Любое изменение проходит проверки примерно за 30 секунд, и на сайт попадает только то, что прошло всё.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 ограничения честно. Оценка Best Practices — 75: её снижает Яндекс.Метрика своими cookie, это сознательный выбор в пользу аналитики. Вход через Google работает в режиме тестирования, поэтому для проверки есть демо-пароль. Демо-база живёт в соседнем бесплатном проекте — схемы сверены, чтобы ничего не задеть. И Docker-образ проверяется в CI, потому что на моём компьютере Docker не установлен.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выводов. Первое: правила проекта до первой строчки кода. Второе: маленькие проверяемые шаги — так человек без опыта разработки удерживает контроль. Третье: требовать доказательства — тест, запрос, скриншот. Четвёртое: спорить с первым вариантом агента. Пятое: человек остаётся владельцем — всё, что касается доступов, ключей и денег, делаю я сама.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Спасибо! Сайт открыт, код и вся документация — в публичном репозитории, демо-доступ на слайде. Готова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Lerree Lab · итоговый проект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Lerree Lab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Личный кабинет участницы фитнес-клуба — сделан с AI-агентом от идеи до продакшна</a:t>
            </a:r>
            <a:endParaRPr lang="en-US" sz="2200" dirty="0"/>
          </a:p>
        </p:txBody>
      </p:sp>
      <p:sp>
        <p:nvSpPr>
          <p:cNvPr id="4" name="Подпись"/>
          <p:cNvSpPr txBox="1"/>
          <p:nvPr/>
        </p:nvSpPr>
        <p:spPr>
          <a:xfrm>
            <a:off x="548640" y="58521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Итоговый проект курса «AI-агенты в разработке» · Зарема Абдулганиева, проектный менеджер · октябрь 2026</a:t>
            </a:r>
            <a:endParaRPr lang="en-US" sz="1200" dirty="0"/>
          </a:p>
        </p:txBody>
      </p:sp>
      <p:pic>
        <p:nvPicPr>
          <p:cNvPr id="5" name="Экран программы" descr="/Users/worker/Desktop/lerree-lab-dz-cicd/docs/screenshots/final/m02-programs-mob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548640"/>
            <a:ext cx="2697480" cy="5837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Клуб живёт в Telegram и PDF — и это больно</a:t>
            </a:r>
            <a:endParaRPr lang="en-US" sz="3400" dirty="0"/>
          </a:p>
        </p:txBody>
      </p:sp>
      <p:sp>
        <p:nvSpPr>
          <p:cNvPr id="3" name="Карточка 1"/>
          <p:cNvSpPr/>
          <p:nvPr/>
        </p:nvSpPr>
        <p:spPr>
          <a:xfrm>
            <a:off x="548640" y="1508760"/>
            <a:ext cx="53492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4" name="Боль 1 круг"/>
          <p:cNvSpPr/>
          <p:nvPr/>
        </p:nvSpPr>
        <p:spPr>
          <a:xfrm>
            <a:off x="868680" y="187452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Боль 1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068830"/>
            <a:ext cx="388620" cy="388620"/>
          </a:xfrm>
          <a:prstGeom prst="rect">
            <a:avLst/>
          </a:prstGeom>
        </p:spPr>
      </p:pic>
      <p:sp>
        <p:nvSpPr>
          <p:cNvPr id="6" name="Заголовок боли 1"/>
          <p:cNvSpPr txBox="1"/>
          <p:nvPr/>
        </p:nvSpPr>
        <p:spPr>
          <a:xfrm>
            <a:off x="1874520" y="18562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Рабочие веса теряются</a:t>
            </a:r>
            <a:endParaRPr lang="en-US" sz="2000" dirty="0"/>
          </a:p>
        </p:txBody>
      </p:sp>
      <p:sp>
        <p:nvSpPr>
          <p:cNvPr id="7" name="Текст боли 1"/>
          <p:cNvSpPr txBox="1"/>
          <p:nvPr/>
        </p:nvSpPr>
        <p:spPr>
          <a:xfrm>
            <a:off x="1874520" y="2377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Участница пишет подходы в блокнот или заметки и не видит, сколько поднимала в прошлый раз.</a:t>
            </a:r>
            <a:endParaRPr lang="en-US" sz="1500" dirty="0"/>
          </a:p>
        </p:txBody>
      </p:sp>
      <p:sp>
        <p:nvSpPr>
          <p:cNvPr id="8" name="Карточка 2"/>
          <p:cNvSpPr/>
          <p:nvPr/>
        </p:nvSpPr>
        <p:spPr>
          <a:xfrm>
            <a:off x="6291072" y="1508760"/>
            <a:ext cx="53492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9" name="Боль 2 круг"/>
          <p:cNvSpPr/>
          <p:nvPr/>
        </p:nvSpPr>
        <p:spPr>
          <a:xfrm>
            <a:off x="6611112" y="187452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Боль 2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422" y="2068830"/>
            <a:ext cx="388620" cy="388620"/>
          </a:xfrm>
          <a:prstGeom prst="rect">
            <a:avLst/>
          </a:prstGeom>
        </p:spPr>
      </p:pic>
      <p:sp>
        <p:nvSpPr>
          <p:cNvPr id="11" name="Заголовок боли 2"/>
          <p:cNvSpPr txBox="1"/>
          <p:nvPr/>
        </p:nvSpPr>
        <p:spPr>
          <a:xfrm>
            <a:off x="7616952" y="18562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Разборы техники тонут в ленте</a:t>
            </a:r>
            <a:endParaRPr lang="en-US" sz="2000" dirty="0"/>
          </a:p>
        </p:txBody>
      </p:sp>
      <p:sp>
        <p:nvSpPr>
          <p:cNvPr id="12" name="Текст боли 2"/>
          <p:cNvSpPr txBox="1"/>
          <p:nvPr/>
        </p:nvSpPr>
        <p:spPr>
          <a:xfrm>
            <a:off x="7616952" y="2377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Видео и программы разбросаны по постам, PDF и Google-документам.</a:t>
            </a:r>
            <a:endParaRPr lang="en-US" sz="1500" dirty="0"/>
          </a:p>
        </p:txBody>
      </p:sp>
      <p:sp>
        <p:nvSpPr>
          <p:cNvPr id="13" name="Карточка 3"/>
          <p:cNvSpPr/>
          <p:nvPr/>
        </p:nvSpPr>
        <p:spPr>
          <a:xfrm>
            <a:off x="548640" y="3977640"/>
            <a:ext cx="53492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4" name="Боль 3 круг"/>
          <p:cNvSpPr/>
          <p:nvPr/>
        </p:nvSpPr>
        <p:spPr>
          <a:xfrm>
            <a:off x="868680" y="43434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Боль 3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4537710"/>
            <a:ext cx="388620" cy="388620"/>
          </a:xfrm>
          <a:prstGeom prst="rect">
            <a:avLst/>
          </a:prstGeom>
        </p:spPr>
      </p:pic>
      <p:sp>
        <p:nvSpPr>
          <p:cNvPr id="16" name="Заголовок боли 3"/>
          <p:cNvSpPr txBox="1"/>
          <p:nvPr/>
        </p:nvSpPr>
        <p:spPr>
          <a:xfrm>
            <a:off x="1874520" y="4325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Доступ — вручную</a:t>
            </a:r>
            <a:endParaRPr lang="en-US" sz="2000" dirty="0"/>
          </a:p>
        </p:txBody>
      </p:sp>
      <p:sp>
        <p:nvSpPr>
          <p:cNvPr id="17" name="Текст боли 3"/>
          <p:cNvSpPr txBox="1"/>
          <p:nvPr/>
        </p:nvSpPr>
        <p:spPr>
          <a:xfrm>
            <a:off x="1874520" y="4846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Подписка закончилась, а доступ к каналу остался: снимать приходится руками.</a:t>
            </a:r>
            <a:endParaRPr lang="en-US" sz="1500" dirty="0"/>
          </a:p>
        </p:txBody>
      </p:sp>
      <p:sp>
        <p:nvSpPr>
          <p:cNvPr id="18" name="Карточка 4"/>
          <p:cNvSpPr/>
          <p:nvPr/>
        </p:nvSpPr>
        <p:spPr>
          <a:xfrm>
            <a:off x="6291072" y="3977640"/>
            <a:ext cx="53492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9" name="Боль 4 круг"/>
          <p:cNvSpPr/>
          <p:nvPr/>
        </p:nvSpPr>
        <p:spPr>
          <a:xfrm>
            <a:off x="6611112" y="43434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Боль 4 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422" y="4537710"/>
            <a:ext cx="388620" cy="388620"/>
          </a:xfrm>
          <a:prstGeom prst="rect">
            <a:avLst/>
          </a:prstGeom>
        </p:spPr>
      </p:pic>
      <p:sp>
        <p:nvSpPr>
          <p:cNvPr id="21" name="Заголовок боли 4"/>
          <p:cNvSpPr txBox="1"/>
          <p:nvPr/>
        </p:nvSpPr>
        <p:spPr>
          <a:xfrm>
            <a:off x="7616952" y="4325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Контент легко утекает</a:t>
            </a:r>
            <a:endParaRPr lang="en-US" sz="2000" dirty="0"/>
          </a:p>
        </p:txBody>
      </p:sp>
      <p:sp>
        <p:nvSpPr>
          <p:cNvPr id="22" name="Текст боли 4"/>
          <p:cNvSpPr txBox="1"/>
          <p:nvPr/>
        </p:nvSpPr>
        <p:spPr>
          <a:xfrm>
            <a:off x="7616952" y="4846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Платные программы пересылаются как обычные файлы.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Решение: один кабинет с доступом по подписке</a:t>
            </a:r>
            <a:endParaRPr lang="en-US" sz="3400" dirty="0"/>
          </a:p>
        </p:txBody>
      </p:sp>
      <p:sp>
        <p:nvSpPr>
          <p:cNvPr id="3" name="Функция 1 круг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Функция 1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623060"/>
            <a:ext cx="320040" cy="320040"/>
          </a:xfrm>
          <a:prstGeom prst="rect">
            <a:avLst/>
          </a:prstGeom>
        </p:spPr>
      </p:pic>
      <p:sp>
        <p:nvSpPr>
          <p:cNvPr id="5" name="Описание функции 1"/>
          <p:cNvSpPr txBox="1"/>
          <p:nvPr/>
        </p:nvSpPr>
        <p:spPr>
          <a:xfrm>
            <a:off x="1417320" y="1417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Программа на неделю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тренировки по дням, прогресс по циклу</a:t>
            </a:r>
            <a:endParaRPr lang="en-US" sz="1800" dirty="0"/>
          </a:p>
        </p:txBody>
      </p:sp>
      <p:sp>
        <p:nvSpPr>
          <p:cNvPr id="6" name="Функция 2 круг"/>
          <p:cNvSpPr/>
          <p:nvPr/>
        </p:nvSpPr>
        <p:spPr>
          <a:xfrm>
            <a:off x="548640" y="239572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Функция 2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555748"/>
            <a:ext cx="320040" cy="320040"/>
          </a:xfrm>
          <a:prstGeom prst="rect">
            <a:avLst/>
          </a:prstGeom>
        </p:spPr>
      </p:pic>
      <p:sp>
        <p:nvSpPr>
          <p:cNvPr id="8" name="Описание функции 2"/>
          <p:cNvSpPr txBox="1"/>
          <p:nvPr/>
        </p:nvSpPr>
        <p:spPr>
          <a:xfrm>
            <a:off x="1417320" y="235000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Дневник подходов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вес × повторы, подсказка «в прошлый раз»</a:t>
            </a:r>
            <a:endParaRPr lang="en-US" sz="1800" dirty="0"/>
          </a:p>
        </p:txBody>
      </p:sp>
      <p:sp>
        <p:nvSpPr>
          <p:cNvPr id="9" name="Функция 3 круг"/>
          <p:cNvSpPr/>
          <p:nvPr/>
        </p:nvSpPr>
        <p:spPr>
          <a:xfrm>
            <a:off x="548640" y="3328416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Функция 3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488436"/>
            <a:ext cx="320040" cy="320040"/>
          </a:xfrm>
          <a:prstGeom prst="rect">
            <a:avLst/>
          </a:prstGeom>
        </p:spPr>
      </p:pic>
      <p:sp>
        <p:nvSpPr>
          <p:cNvPr id="11" name="Описание функции 3"/>
          <p:cNvSpPr txBox="1"/>
          <p:nvPr/>
        </p:nvSpPr>
        <p:spPr>
          <a:xfrm>
            <a:off x="1417320" y="328269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Личные замеры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добавить, исправить, удалить; видны только ей</a:t>
            </a:r>
            <a:endParaRPr lang="en-US" sz="1800" dirty="0"/>
          </a:p>
        </p:txBody>
      </p:sp>
      <p:sp>
        <p:nvSpPr>
          <p:cNvPr id="12" name="Функция 4 круг"/>
          <p:cNvSpPr/>
          <p:nvPr/>
        </p:nvSpPr>
        <p:spPr>
          <a:xfrm>
            <a:off x="548640" y="4261104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Функция 4 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4421124"/>
            <a:ext cx="320040" cy="320040"/>
          </a:xfrm>
          <a:prstGeom prst="rect">
            <a:avLst/>
          </a:prstGeom>
        </p:spPr>
      </p:pic>
      <p:sp>
        <p:nvSpPr>
          <p:cNvPr id="14" name="Описание функции 4"/>
          <p:cNvSpPr txBox="1"/>
          <p:nvPr/>
        </p:nvSpPr>
        <p:spPr>
          <a:xfrm>
            <a:off x="1417320" y="421538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Материалы с поиском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статьи, рецепты, подкасты, эфиры</a:t>
            </a:r>
            <a:endParaRPr lang="en-US" sz="1800" dirty="0"/>
          </a:p>
        </p:txBody>
      </p:sp>
      <p:sp>
        <p:nvSpPr>
          <p:cNvPr id="15" name="Функция 5 круг"/>
          <p:cNvSpPr/>
          <p:nvPr/>
        </p:nvSpPr>
        <p:spPr>
          <a:xfrm>
            <a:off x="548640" y="5193792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Функция 5 иконка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5353812"/>
            <a:ext cx="320040" cy="320040"/>
          </a:xfrm>
          <a:prstGeom prst="rect">
            <a:avLst/>
          </a:prstGeom>
        </p:spPr>
      </p:pic>
      <p:sp>
        <p:nvSpPr>
          <p:cNvPr id="17" name="Описание функции 5"/>
          <p:cNvSpPr txBox="1"/>
          <p:nvPr/>
        </p:nvSpPr>
        <p:spPr>
          <a:xfrm>
            <a:off x="1417320" y="51480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Вход и доступ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пароль или Google; без подписки — экран продления</a:t>
            </a:r>
            <a:endParaRPr lang="en-US" sz="1800" dirty="0"/>
          </a:p>
        </p:txBody>
      </p:sp>
      <p:pic>
        <p:nvPicPr>
          <p:cNvPr id="18" name="Скриншот тренировки" descr="/Users/worker/Desktop/lerree-lab-dz-cicd/docs/screenshots/final/03-workout-desktop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1600200"/>
            <a:ext cx="5833872" cy="364617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pic>
      <p:sp>
        <p:nvSpPr>
          <p:cNvPr id="19" name="Подпись скриншота"/>
          <p:cNvSpPr txBox="1"/>
          <p:nvPr/>
        </p:nvSpPr>
        <p:spPr>
          <a:xfrm>
            <a:off x="5806440" y="5349240"/>
            <a:ext cx="583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Тренировка: значения прошлого раза — прямо над полями ввода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Конкуренты: свободная ниша — клуб одного тренера</a:t>
            </a:r>
            <a:endParaRPr lang="en-US" sz="3400" dirty="0"/>
          </a:p>
        </p:txBody>
      </p:sp>
      <p:sp>
        <p:nvSpPr>
          <p:cNvPr id="3" name="Группа 1"/>
          <p:cNvSpPr/>
          <p:nvPr/>
        </p:nvSpPr>
        <p:spPr>
          <a:xfrm>
            <a:off x="54864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4" name="Группа 1 круг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Группа 1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954530"/>
            <a:ext cx="342900" cy="342900"/>
          </a:xfrm>
          <a:prstGeom prst="rect">
            <a:avLst/>
          </a:prstGeom>
        </p:spPr>
      </p:pic>
      <p:sp>
        <p:nvSpPr>
          <p:cNvPr id="6" name="Название группы 1"/>
          <p:cNvSpPr txBox="1"/>
          <p:nvPr/>
        </p:nvSpPr>
        <p:spPr>
          <a:xfrm>
            <a:off x="868680" y="26060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Массовые платформы</a:t>
            </a:r>
            <a:endParaRPr lang="en-US" sz="1900" dirty="0"/>
          </a:p>
        </p:txBody>
      </p:sp>
      <p:sp>
        <p:nvSpPr>
          <p:cNvPr id="7" name="Примеры группы 1"/>
          <p:cNvSpPr txBox="1"/>
          <p:nvPr/>
        </p:nvSpPr>
        <p:spPr>
          <a:xfrm>
            <a:off x="868680" y="3017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FitStars, GymTeam</a:t>
            </a:r>
            <a:endParaRPr lang="en-US" sz="1400" dirty="0"/>
          </a:p>
        </p:txBody>
      </p:sp>
      <p:sp>
        <p:nvSpPr>
          <p:cNvPr id="8" name="Вывод по группе 1"/>
          <p:cNvSpPr txBox="1"/>
          <p:nvPr/>
        </p:nvSpPr>
        <p:spPr>
          <a:xfrm>
            <a:off x="868680" y="338328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Много тренеров и домашние видео. Дневника весов для зала нет, сообщества нет.</a:t>
            </a:r>
            <a:endParaRPr lang="en-US" sz="1400" dirty="0"/>
          </a:p>
        </p:txBody>
      </p:sp>
      <p:sp>
        <p:nvSpPr>
          <p:cNvPr id="9" name="Группа 2"/>
          <p:cNvSpPr/>
          <p:nvPr/>
        </p:nvSpPr>
        <p:spPr>
          <a:xfrm>
            <a:off x="4425696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0" name="Группа 2 круг"/>
          <p:cNvSpPr/>
          <p:nvPr/>
        </p:nvSpPr>
        <p:spPr>
          <a:xfrm>
            <a:off x="4745736" y="17830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Группа 2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186" y="1954530"/>
            <a:ext cx="342900" cy="342900"/>
          </a:xfrm>
          <a:prstGeom prst="rect">
            <a:avLst/>
          </a:prstGeom>
        </p:spPr>
      </p:pic>
      <p:sp>
        <p:nvSpPr>
          <p:cNvPr id="12" name="Название группы 2"/>
          <p:cNvSpPr txBox="1"/>
          <p:nvPr/>
        </p:nvSpPr>
        <p:spPr>
          <a:xfrm>
            <a:off x="4745736" y="26060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Платформы для тренеров</a:t>
            </a:r>
            <a:endParaRPr lang="en-US" sz="1900" dirty="0"/>
          </a:p>
        </p:txBody>
      </p:sp>
      <p:sp>
        <p:nvSpPr>
          <p:cNvPr id="13" name="Примеры группы 2"/>
          <p:cNvSpPr txBox="1"/>
          <p:nvPr/>
        </p:nvSpPr>
        <p:spPr>
          <a:xfrm>
            <a:off x="4745736" y="3017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Trainerize, Everfit</a:t>
            </a:r>
            <a:endParaRPr lang="en-US" sz="1400" dirty="0"/>
          </a:p>
        </p:txBody>
      </p:sp>
      <p:sp>
        <p:nvSpPr>
          <p:cNvPr id="14" name="Вывод по группе 2"/>
          <p:cNvSpPr txBox="1"/>
          <p:nvPr/>
        </p:nvSpPr>
        <p:spPr>
          <a:xfrm>
            <a:off x="4745736" y="338328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Ближе всего по функциям, но оплата через Stripe — из России не работает.</a:t>
            </a:r>
            <a:endParaRPr lang="en-US" sz="1400" dirty="0"/>
          </a:p>
        </p:txBody>
      </p:sp>
      <p:sp>
        <p:nvSpPr>
          <p:cNvPr id="15" name="Группа 3"/>
          <p:cNvSpPr/>
          <p:nvPr/>
        </p:nvSpPr>
        <p:spPr>
          <a:xfrm>
            <a:off x="8302752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6" name="Группа 3 круг"/>
          <p:cNvSpPr/>
          <p:nvPr/>
        </p:nvSpPr>
        <p:spPr>
          <a:xfrm>
            <a:off x="8622792" y="17830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Группа 3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242" y="1954530"/>
            <a:ext cx="342900" cy="342900"/>
          </a:xfrm>
          <a:prstGeom prst="rect">
            <a:avLst/>
          </a:prstGeom>
        </p:spPr>
      </p:pic>
      <p:sp>
        <p:nvSpPr>
          <p:cNvPr id="18" name="Название группы 3"/>
          <p:cNvSpPr txBox="1"/>
          <p:nvPr/>
        </p:nvSpPr>
        <p:spPr>
          <a:xfrm>
            <a:off x="8622792" y="26060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Трекеры тренировок</a:t>
            </a:r>
            <a:endParaRPr lang="en-US" sz="1900" dirty="0"/>
          </a:p>
        </p:txBody>
      </p:sp>
      <p:sp>
        <p:nvSpPr>
          <p:cNvPr id="19" name="Примеры группы 3"/>
          <p:cNvSpPr txBox="1"/>
          <p:nvPr/>
        </p:nvSpPr>
        <p:spPr>
          <a:xfrm>
            <a:off x="8622792" y="3017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Hevy, Strong</a:t>
            </a:r>
            <a:endParaRPr lang="en-US" sz="1400" dirty="0"/>
          </a:p>
        </p:txBody>
      </p:sp>
      <p:sp>
        <p:nvSpPr>
          <p:cNvPr id="20" name="Вывод по группе 3"/>
          <p:cNvSpPr txBox="1"/>
          <p:nvPr/>
        </p:nvSpPr>
        <p:spPr>
          <a:xfrm>
            <a:off x="8622792" y="338328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Отличный дневник подходов, но нет программы и разборов конкретного тренера.</a:t>
            </a:r>
            <a:endParaRPr lang="en-US" sz="1400" dirty="0"/>
          </a:p>
        </p:txBody>
      </p:sp>
      <p:sp>
        <p:nvSpPr>
          <p:cNvPr id="21" name="Позиционирование"/>
          <p:cNvSpPr/>
          <p:nvPr/>
        </p:nvSpPr>
        <p:spPr>
          <a:xfrm>
            <a:off x="548640" y="475488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22" name="Текст позиционирования"/>
          <p:cNvSpPr txBox="1"/>
          <p:nvPr/>
        </p:nvSpPr>
        <p:spPr>
          <a:xfrm>
            <a:off x="914400" y="4846320"/>
            <a:ext cx="10362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Lerree Lab =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программа тренера + дневник подходов + оплата из РФ через ГетКурс + приватные замеры. Шаг вверх от Telegram без смены привычек.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Как это выглядит</a:t>
            </a:r>
            <a:endParaRPr lang="en-US" sz="3400" dirty="0"/>
          </a:p>
        </p:txBody>
      </p:sp>
      <p:pic>
        <p:nvPicPr>
          <p:cNvPr id="3" name="Замеры на компьютере" descr="/Users/worker/Desktop/lerree-lab-dz-cicd/docs/screenshots/final/07-measurements-edit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675120" cy="417195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pic>
      <p:sp>
        <p:nvSpPr>
          <p:cNvPr id="4" name="Подпись замеров"/>
          <p:cNvSpPr txBox="1"/>
          <p:nvPr/>
        </p:nvSpPr>
        <p:spPr>
          <a:xfrm>
            <a:off x="548640" y="56692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Замеры: исправление в той же форме, удаление — с подтверждением</a:t>
            </a:r>
            <a:endParaRPr lang="en-US" sz="1200" dirty="0"/>
          </a:p>
        </p:txBody>
      </p:sp>
      <p:pic>
        <p:nvPicPr>
          <p:cNvPr id="5" name="Тренировка на телефоне" descr="/Users/worker/Desktop/lerree-lab-dz-cicd/docs/screenshots/final/m03-workout-mobi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17320"/>
            <a:ext cx="1964831" cy="42519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pic>
      <p:pic>
        <p:nvPicPr>
          <p:cNvPr id="6" name="Подписка на телефоне" descr="/Users/worker/Desktop/lerree-lab-dz-cicd/docs/screenshots/final/m04-materials-mobi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671" y="1417320"/>
            <a:ext cx="1964831" cy="42519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pic>
      <p:sp>
        <p:nvSpPr>
          <p:cNvPr id="7" name="Подпись телефона"/>
          <p:cNvSpPr txBox="1"/>
          <p:nvPr/>
        </p:nvSpPr>
        <p:spPr>
          <a:xfrm>
            <a:off x="7589520" y="5669280"/>
            <a:ext cx="4203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Телефон: тренировка в зале и материалы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Архитектура</a:t>
            </a:r>
            <a:endParaRPr lang="en-US" sz="3400" dirty="0"/>
          </a:p>
        </p:txBody>
      </p:sp>
      <p:sp>
        <p:nvSpPr>
          <p:cNvPr id="3" name="Клиент"/>
          <p:cNvSpPr/>
          <p:nvPr/>
        </p:nvSpPr>
        <p:spPr>
          <a:xfrm>
            <a:off x="548640" y="1417320"/>
            <a:ext cx="329184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4" name="Клиент круг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Клиент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6" name="Клиент заголовок"/>
          <p:cNvSpPr txBox="1"/>
          <p:nvPr/>
        </p:nvSpPr>
        <p:spPr>
          <a:xfrm>
            <a:off x="146304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Браузер / телефон</a:t>
            </a:r>
            <a:endParaRPr lang="en-US" sz="1800" dirty="0"/>
          </a:p>
        </p:txBody>
      </p:sp>
      <p:sp>
        <p:nvSpPr>
          <p:cNvPr id="7" name="Клиент состав"/>
          <p:cNvSpPr txBox="1"/>
          <p:nvPr/>
        </p:nvSpPr>
        <p:spPr>
          <a:xfrm>
            <a:off x="777240" y="23317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React 19 + TypeScript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Tailwind 4, React Router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8 экранов, mobile-first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журнал ошибок в JSON</a:t>
            </a:r>
            <a:endParaRPr lang="en-US" sz="1300" dirty="0"/>
          </a:p>
        </p:txBody>
      </p:sp>
      <p:sp>
        <p:nvSpPr>
          <p:cNvPr id="8" name="Хостинг"/>
          <p:cNvSpPr/>
          <p:nvPr/>
        </p:nvSpPr>
        <p:spPr>
          <a:xfrm>
            <a:off x="4526280" y="1417320"/>
            <a:ext cx="329184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9" name="Хостинг круг"/>
          <p:cNvSpPr/>
          <p:nvPr/>
        </p:nvSpPr>
        <p:spPr>
          <a:xfrm>
            <a:off x="4754880" y="16459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Хостинг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83080"/>
            <a:ext cx="274320" cy="274320"/>
          </a:xfrm>
          <a:prstGeom prst="rect">
            <a:avLst/>
          </a:prstGeom>
        </p:spPr>
      </p:pic>
      <p:sp>
        <p:nvSpPr>
          <p:cNvPr id="11" name="Хостинг заголовок"/>
          <p:cNvSpPr txBox="1"/>
          <p:nvPr/>
        </p:nvSpPr>
        <p:spPr>
          <a:xfrm>
            <a:off x="544068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Vercel</a:t>
            </a:r>
            <a:endParaRPr lang="en-US" sz="1800" dirty="0"/>
          </a:p>
        </p:txBody>
      </p:sp>
      <p:sp>
        <p:nvSpPr>
          <p:cNvPr id="12" name="Хостинг состав"/>
          <p:cNvSpPr txBox="1"/>
          <p:nvPr/>
        </p:nvSpPr>
        <p:spPr>
          <a:xfrm>
            <a:off x="4754880" y="23317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статика сайта, заголовки и CSP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/api/health — вход и база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/api/log — ошибки браузера</a:t>
            </a:r>
            <a:endParaRPr lang="en-US" sz="1300" dirty="0"/>
          </a:p>
        </p:txBody>
      </p:sp>
      <p:sp>
        <p:nvSpPr>
          <p:cNvPr id="13" name="База"/>
          <p:cNvSpPr/>
          <p:nvPr/>
        </p:nvSpPr>
        <p:spPr>
          <a:xfrm>
            <a:off x="8503920" y="1417320"/>
            <a:ext cx="329184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4" name="База круг"/>
          <p:cNvSpPr/>
          <p:nvPr/>
        </p:nvSpPr>
        <p:spPr>
          <a:xfrm>
            <a:off x="8732520" y="16459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База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783080"/>
            <a:ext cx="274320" cy="274320"/>
          </a:xfrm>
          <a:prstGeom prst="rect">
            <a:avLst/>
          </a:prstGeom>
        </p:spPr>
      </p:pic>
      <p:sp>
        <p:nvSpPr>
          <p:cNvPr id="16" name="База заголовок"/>
          <p:cNvSpPr txBox="1"/>
          <p:nvPr/>
        </p:nvSpPr>
        <p:spPr>
          <a:xfrm>
            <a:off x="941832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Supabase</a:t>
            </a:r>
            <a:endParaRPr lang="en-US" sz="1800" dirty="0"/>
          </a:p>
        </p:txBody>
      </p:sp>
      <p:sp>
        <p:nvSpPr>
          <p:cNvPr id="17" name="База состав"/>
          <p:cNvSpPr txBox="1"/>
          <p:nvPr/>
        </p:nvSpPr>
        <p:spPr>
          <a:xfrm>
            <a:off x="8732520" y="23317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PostgreSQL: 7 таблиц, RLS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Auth: пароль + Google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PostgREST — CRUD 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6 миграций на SQL</a:t>
            </a:r>
            <a:endParaRPr lang="en-US" sz="1300" dirty="0"/>
          </a:p>
        </p:txBody>
      </p:sp>
      <p:sp>
        <p:nvSpPr>
          <p:cNvPr id="18" name="Стрелка"/>
          <p:cNvSpPr/>
          <p:nvPr/>
        </p:nvSpPr>
        <p:spPr>
          <a:xfrm>
            <a:off x="3931920" y="2674620"/>
            <a:ext cx="5029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Стрелка"/>
          <p:cNvSpPr/>
          <p:nvPr/>
        </p:nvSpPr>
        <p:spPr>
          <a:xfrm>
            <a:off x="7909560" y="2674620"/>
            <a:ext cx="5029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Инфраструктура 1"/>
          <p:cNvSpPr/>
          <p:nvPr/>
        </p:nvSpPr>
        <p:spPr>
          <a:xfrm>
            <a:off x="548640" y="4343400"/>
            <a:ext cx="3515258" cy="1691640"/>
          </a:xfrm>
          <a:prstGeom prst="roundRect">
            <a:avLst>
              <a:gd name="adj" fmla="val 648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pic>
        <p:nvPicPr>
          <p:cNvPr id="21" name="Иконка инфраструктуры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17720"/>
            <a:ext cx="411480" cy="411480"/>
          </a:xfrm>
          <a:prstGeom prst="rect">
            <a:avLst/>
          </a:prstGeom>
        </p:spPr>
      </p:pic>
      <p:sp>
        <p:nvSpPr>
          <p:cNvPr id="22" name="Заголовок инфраструктуры 1"/>
          <p:cNvSpPr txBox="1"/>
          <p:nvPr/>
        </p:nvSpPr>
        <p:spPr>
          <a:xfrm>
            <a:off x="1417320" y="4590288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GitHub Actions</a:t>
            </a:r>
            <a:endParaRPr lang="en-US" sz="1700" dirty="0"/>
          </a:p>
        </p:txBody>
      </p:sp>
      <p:sp>
        <p:nvSpPr>
          <p:cNvPr id="23" name="Текст инфраструктуры 1"/>
          <p:cNvSpPr txBox="1"/>
          <p:nvPr/>
        </p:nvSpPr>
        <p:spPr>
          <a:xfrm>
            <a:off x="822960" y="51663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проверки ~30 с → превью на PR → прод из main → проверка /api/health</a:t>
            </a:r>
            <a:endParaRPr lang="en-US" sz="1300" dirty="0"/>
          </a:p>
        </p:txBody>
      </p:sp>
      <p:sp>
        <p:nvSpPr>
          <p:cNvPr id="24" name="Инфраструктура 2"/>
          <p:cNvSpPr/>
          <p:nvPr/>
        </p:nvSpPr>
        <p:spPr>
          <a:xfrm>
            <a:off x="4338218" y="4343400"/>
            <a:ext cx="3515258" cy="1691640"/>
          </a:xfrm>
          <a:prstGeom prst="roundRect">
            <a:avLst>
              <a:gd name="adj" fmla="val 648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pic>
        <p:nvPicPr>
          <p:cNvPr id="25" name="Иконка инфраструктуры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4617720"/>
            <a:ext cx="411480" cy="411480"/>
          </a:xfrm>
          <a:prstGeom prst="rect">
            <a:avLst/>
          </a:prstGeom>
        </p:spPr>
      </p:pic>
      <p:sp>
        <p:nvSpPr>
          <p:cNvPr id="26" name="Заголовок инфраструктуры 2"/>
          <p:cNvSpPr txBox="1"/>
          <p:nvPr/>
        </p:nvSpPr>
        <p:spPr>
          <a:xfrm>
            <a:off x="5206898" y="4590288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Docker</a:t>
            </a:r>
            <a:endParaRPr lang="en-US" sz="1700" dirty="0"/>
          </a:p>
        </p:txBody>
      </p:sp>
      <p:sp>
        <p:nvSpPr>
          <p:cNvPr id="27" name="Текст инфраструктуры 2"/>
          <p:cNvSpPr txBox="1"/>
          <p:nvPr/>
        </p:nvSpPr>
        <p:spPr>
          <a:xfrm>
            <a:off x="4612538" y="51663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образ на nginx без root; собирается и запускается в CI</a:t>
            </a:r>
            <a:endParaRPr lang="en-US" sz="1300" dirty="0"/>
          </a:p>
        </p:txBody>
      </p:sp>
      <p:sp>
        <p:nvSpPr>
          <p:cNvPr id="28" name="Инфраструктура 3"/>
          <p:cNvSpPr/>
          <p:nvPr/>
        </p:nvSpPr>
        <p:spPr>
          <a:xfrm>
            <a:off x="8127797" y="4343400"/>
            <a:ext cx="3515258" cy="1691640"/>
          </a:xfrm>
          <a:prstGeom prst="roundRect">
            <a:avLst>
              <a:gd name="adj" fmla="val 648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pic>
        <p:nvPicPr>
          <p:cNvPr id="29" name="Иконка инфраструктуры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117" y="4617720"/>
            <a:ext cx="411480" cy="411480"/>
          </a:xfrm>
          <a:prstGeom prst="rect">
            <a:avLst/>
          </a:prstGeom>
        </p:spPr>
      </p:pic>
      <p:sp>
        <p:nvSpPr>
          <p:cNvPr id="30" name="Заголовок инфраструктуры 3"/>
          <p:cNvSpPr txBox="1"/>
          <p:nvPr/>
        </p:nvSpPr>
        <p:spPr>
          <a:xfrm>
            <a:off x="8996477" y="4590288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Сервисы</a:t>
            </a:r>
            <a:endParaRPr lang="en-US" sz="1700" dirty="0"/>
          </a:p>
        </p:txBody>
      </p:sp>
      <p:sp>
        <p:nvSpPr>
          <p:cNvPr id="31" name="Текст инфраструктуры 3"/>
          <p:cNvSpPr txBox="1"/>
          <p:nvPr/>
        </p:nvSpPr>
        <p:spPr>
          <a:xfrm>
            <a:off x="8402117" y="51663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Google OAuth, Яндекс.Метрика (8 целей), мониторинг с оповещением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Требования проекта — закрыты</a:t>
            </a:r>
            <a:endParaRPr lang="en-US" sz="3400" dirty="0"/>
          </a:p>
        </p:txBody>
      </p:sp>
      <p:sp>
        <p:nvSpPr>
          <p:cNvPr id="3" name="Группа требований 1"/>
          <p:cNvSpPr/>
          <p:nvPr/>
        </p:nvSpPr>
        <p:spPr>
          <a:xfrm>
            <a:off x="548640" y="1417320"/>
            <a:ext cx="534924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4" name="Заголовок требований 1"/>
          <p:cNvSpPr txBox="1"/>
          <p:nvPr/>
        </p:nvSpPr>
        <p:spPr>
          <a:xfrm>
            <a:off x="868680" y="16459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Frontend</a:t>
            </a:r>
            <a:endParaRPr lang="en-US" sz="1900" dirty="0"/>
          </a:p>
        </p:txBody>
      </p:sp>
      <p:pic>
        <p:nvPicPr>
          <p:cNvPr id="5" name="Галочка 1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21992"/>
            <a:ext cx="219456" cy="219456"/>
          </a:xfrm>
          <a:prstGeom prst="rect">
            <a:avLst/>
          </a:prstGeom>
        </p:spPr>
      </p:pic>
      <p:sp>
        <p:nvSpPr>
          <p:cNvPr id="6" name="Требование 1.1"/>
          <p:cNvSpPr txBox="1"/>
          <p:nvPr/>
        </p:nvSpPr>
        <p:spPr>
          <a:xfrm>
            <a:off x="1207008" y="216712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экранов, адаптив под телефон</a:t>
            </a:r>
            <a:endParaRPr lang="en-US" sz="1400" dirty="0"/>
          </a:p>
        </p:txBody>
      </p:sp>
      <p:pic>
        <p:nvPicPr>
          <p:cNvPr id="7" name="Галочка 1.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60320"/>
            <a:ext cx="219456" cy="219456"/>
          </a:xfrm>
          <a:prstGeom prst="rect">
            <a:avLst/>
          </a:prstGeom>
        </p:spPr>
      </p:pic>
      <p:sp>
        <p:nvSpPr>
          <p:cNvPr id="8" name="Требование 1.2"/>
          <p:cNvSpPr txBox="1"/>
          <p:nvPr/>
        </p:nvSpPr>
        <p:spPr>
          <a:xfrm>
            <a:off x="1207008" y="25054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формы с проверкой ввода</a:t>
            </a:r>
            <a:endParaRPr lang="en-US" sz="1400" dirty="0"/>
          </a:p>
        </p:txBody>
      </p:sp>
      <p:pic>
        <p:nvPicPr>
          <p:cNvPr id="9" name="Галочка 1.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98648"/>
            <a:ext cx="219456" cy="219456"/>
          </a:xfrm>
          <a:prstGeom prst="rect">
            <a:avLst/>
          </a:prstGeom>
        </p:spPr>
      </p:pic>
      <p:sp>
        <p:nvSpPr>
          <p:cNvPr id="10" name="Требование 1.3"/>
          <p:cNvSpPr txBox="1"/>
          <p:nvPr/>
        </p:nvSpPr>
        <p:spPr>
          <a:xfrm>
            <a:off x="1207008" y="284378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загрузка, пусто, ошибка, повтор</a:t>
            </a:r>
            <a:endParaRPr lang="en-US" sz="1400" dirty="0"/>
          </a:p>
        </p:txBody>
      </p:sp>
      <p:sp>
        <p:nvSpPr>
          <p:cNvPr id="11" name="Группа требований 2"/>
          <p:cNvSpPr/>
          <p:nvPr/>
        </p:nvSpPr>
        <p:spPr>
          <a:xfrm>
            <a:off x="6291072" y="1417320"/>
            <a:ext cx="534924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2" name="Заголовок требований 2"/>
          <p:cNvSpPr txBox="1"/>
          <p:nvPr/>
        </p:nvSpPr>
        <p:spPr>
          <a:xfrm>
            <a:off x="6611112" y="16459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Backend</a:t>
            </a:r>
            <a:endParaRPr lang="en-US" sz="1900" dirty="0"/>
          </a:p>
        </p:txBody>
      </p:sp>
      <p:pic>
        <p:nvPicPr>
          <p:cNvPr id="13" name="Галочка 2.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221992"/>
            <a:ext cx="219456" cy="219456"/>
          </a:xfrm>
          <a:prstGeom prst="rect">
            <a:avLst/>
          </a:prstGeom>
        </p:spPr>
      </p:pic>
      <p:sp>
        <p:nvSpPr>
          <p:cNvPr id="14" name="Требование 2.1"/>
          <p:cNvSpPr txBox="1"/>
          <p:nvPr/>
        </p:nvSpPr>
        <p:spPr>
          <a:xfrm>
            <a:off x="6949440" y="216712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 связанных таблиц PostgreSQL</a:t>
            </a:r>
            <a:endParaRPr lang="en-US" sz="1400" dirty="0"/>
          </a:p>
        </p:txBody>
      </p:sp>
      <p:pic>
        <p:nvPicPr>
          <p:cNvPr id="15" name="Галочка 2.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2560320"/>
            <a:ext cx="219456" cy="219456"/>
          </a:xfrm>
          <a:prstGeom prst="rect">
            <a:avLst/>
          </a:prstGeom>
        </p:spPr>
      </p:pic>
      <p:sp>
        <p:nvSpPr>
          <p:cNvPr id="16" name="Требование 2.2"/>
          <p:cNvSpPr txBox="1"/>
          <p:nvPr/>
        </p:nvSpPr>
        <p:spPr>
          <a:xfrm>
            <a:off x="6949440" y="25054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CRUD: замеры, подходы</a:t>
            </a:r>
            <a:endParaRPr lang="en-US" sz="1400" dirty="0"/>
          </a:p>
        </p:txBody>
      </p:sp>
      <p:pic>
        <p:nvPicPr>
          <p:cNvPr id="17" name="Галочка 2.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2898648"/>
            <a:ext cx="219456" cy="219456"/>
          </a:xfrm>
          <a:prstGeom prst="rect">
            <a:avLst/>
          </a:prstGeom>
        </p:spPr>
      </p:pic>
      <p:sp>
        <p:nvSpPr>
          <p:cNvPr id="18" name="Требование 2.3"/>
          <p:cNvSpPr txBox="1"/>
          <p:nvPr/>
        </p:nvSpPr>
        <p:spPr>
          <a:xfrm>
            <a:off x="6949440" y="284378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Supabase Auth + доступ по подписке</a:t>
            </a:r>
            <a:endParaRPr lang="en-US" sz="1400" dirty="0"/>
          </a:p>
        </p:txBody>
      </p:sp>
      <p:pic>
        <p:nvPicPr>
          <p:cNvPr id="19" name="Галочка 2.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3236976"/>
            <a:ext cx="219456" cy="219456"/>
          </a:xfrm>
          <a:prstGeom prst="rect">
            <a:avLst/>
          </a:prstGeom>
        </p:spPr>
      </p:pic>
      <p:sp>
        <p:nvSpPr>
          <p:cNvPr id="20" name="Требование 2.4"/>
          <p:cNvSpPr txBox="1"/>
          <p:nvPr/>
        </p:nvSpPr>
        <p:spPr>
          <a:xfrm>
            <a:off x="6949440" y="31821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валидация в форме и в базе</a:t>
            </a:r>
            <a:endParaRPr lang="en-US" sz="1400" dirty="0"/>
          </a:p>
        </p:txBody>
      </p:sp>
      <p:sp>
        <p:nvSpPr>
          <p:cNvPr id="21" name="Группа требований 3"/>
          <p:cNvSpPr/>
          <p:nvPr/>
        </p:nvSpPr>
        <p:spPr>
          <a:xfrm>
            <a:off x="548640" y="3931920"/>
            <a:ext cx="534924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22" name="Заголовок требований 3"/>
          <p:cNvSpPr txBox="1"/>
          <p:nvPr/>
        </p:nvSpPr>
        <p:spPr>
          <a:xfrm>
            <a:off x="868680" y="41605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Дополнительно (нужно 2)</a:t>
            </a:r>
            <a:endParaRPr lang="en-US" sz="1900" dirty="0"/>
          </a:p>
        </p:txBody>
      </p:sp>
      <p:pic>
        <p:nvPicPr>
          <p:cNvPr id="23" name="Галочка 3.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736592"/>
            <a:ext cx="219456" cy="219456"/>
          </a:xfrm>
          <a:prstGeom prst="rect">
            <a:avLst/>
          </a:prstGeom>
        </p:spPr>
      </p:pic>
      <p:sp>
        <p:nvSpPr>
          <p:cNvPr id="24" name="Требование 3.1"/>
          <p:cNvSpPr txBox="1"/>
          <p:nvPr/>
        </p:nvSpPr>
        <p:spPr>
          <a:xfrm>
            <a:off x="1207008" y="468172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OAuth2 — вход через Google</a:t>
            </a:r>
            <a:endParaRPr lang="en-US" sz="1400" dirty="0"/>
          </a:p>
        </p:txBody>
      </p:sp>
      <p:pic>
        <p:nvPicPr>
          <p:cNvPr id="25" name="Галочка 3.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074920"/>
            <a:ext cx="219456" cy="219456"/>
          </a:xfrm>
          <a:prstGeom prst="rect">
            <a:avLst/>
          </a:prstGeom>
        </p:spPr>
      </p:pic>
      <p:sp>
        <p:nvSpPr>
          <p:cNvPr id="26" name="Требование 3.2"/>
          <p:cNvSpPr txBox="1"/>
          <p:nvPr/>
        </p:nvSpPr>
        <p:spPr>
          <a:xfrm>
            <a:off x="1207008" y="50200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аналитика — Яндекс.Метрика</a:t>
            </a:r>
            <a:endParaRPr lang="en-US" sz="1400" dirty="0"/>
          </a:p>
        </p:txBody>
      </p:sp>
      <p:pic>
        <p:nvPicPr>
          <p:cNvPr id="27" name="Галочка 3.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5413248"/>
            <a:ext cx="219456" cy="219456"/>
          </a:xfrm>
          <a:prstGeom prst="rect">
            <a:avLst/>
          </a:prstGeom>
        </p:spPr>
      </p:pic>
      <p:sp>
        <p:nvSpPr>
          <p:cNvPr id="28" name="Требование 3.3"/>
          <p:cNvSpPr txBox="1"/>
          <p:nvPr/>
        </p:nvSpPr>
        <p:spPr>
          <a:xfrm>
            <a:off x="1207008" y="535838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поиск по материалам</a:t>
            </a:r>
            <a:endParaRPr lang="en-US" sz="1400" dirty="0"/>
          </a:p>
        </p:txBody>
      </p:sp>
      <p:pic>
        <p:nvPicPr>
          <p:cNvPr id="29" name="Галочка 3.4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680" y="5751576"/>
            <a:ext cx="219456" cy="219456"/>
          </a:xfrm>
          <a:prstGeom prst="rect">
            <a:avLst/>
          </a:prstGeom>
        </p:spPr>
      </p:pic>
      <p:sp>
        <p:nvSpPr>
          <p:cNvPr id="30" name="Требование 3.4"/>
          <p:cNvSpPr txBox="1"/>
          <p:nvPr/>
        </p:nvSpPr>
        <p:spPr>
          <a:xfrm>
            <a:off x="1207008" y="56967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оповещение о падении сайта</a:t>
            </a:r>
            <a:endParaRPr lang="en-US" sz="1400" dirty="0"/>
          </a:p>
        </p:txBody>
      </p:sp>
      <p:sp>
        <p:nvSpPr>
          <p:cNvPr id="31" name="Группа требований 4"/>
          <p:cNvSpPr/>
          <p:nvPr/>
        </p:nvSpPr>
        <p:spPr>
          <a:xfrm>
            <a:off x="6291072" y="3931920"/>
            <a:ext cx="534924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32" name="Заголовок требований 4"/>
          <p:cNvSpPr txBox="1"/>
          <p:nvPr/>
        </p:nvSpPr>
        <p:spPr>
          <a:xfrm>
            <a:off x="6611112" y="41605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Инфраструктура</a:t>
            </a:r>
            <a:endParaRPr lang="en-US" sz="1900" dirty="0"/>
          </a:p>
        </p:txBody>
      </p:sp>
      <p:pic>
        <p:nvPicPr>
          <p:cNvPr id="33" name="Галочка 4.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1112" y="4736592"/>
            <a:ext cx="219456" cy="219456"/>
          </a:xfrm>
          <a:prstGeom prst="rect">
            <a:avLst/>
          </a:prstGeom>
        </p:spPr>
      </p:pic>
      <p:sp>
        <p:nvSpPr>
          <p:cNvPr id="34" name="Требование 4.1"/>
          <p:cNvSpPr txBox="1"/>
          <p:nvPr/>
        </p:nvSpPr>
        <p:spPr>
          <a:xfrm>
            <a:off x="6949440" y="468172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прод на Vercel, превью на каждый PR</a:t>
            </a:r>
            <a:endParaRPr lang="en-US" sz="1400" dirty="0"/>
          </a:p>
        </p:txBody>
      </p:sp>
      <p:pic>
        <p:nvPicPr>
          <p:cNvPr id="35" name="Галочка 4.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1112" y="5074920"/>
            <a:ext cx="219456" cy="219456"/>
          </a:xfrm>
          <a:prstGeom prst="rect">
            <a:avLst/>
          </a:prstGeom>
        </p:spPr>
      </p:pic>
      <p:sp>
        <p:nvSpPr>
          <p:cNvPr id="36" name="Требование 4.2"/>
          <p:cNvSpPr txBox="1"/>
          <p:nvPr/>
        </p:nvSpPr>
        <p:spPr>
          <a:xfrm>
            <a:off x="6949440" y="50200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CI/CD на GitHub Actions</a:t>
            </a:r>
            <a:endParaRPr lang="en-US" sz="1400" dirty="0"/>
          </a:p>
        </p:txBody>
      </p:sp>
      <p:pic>
        <p:nvPicPr>
          <p:cNvPr id="37" name="Галочка 4.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11112" y="5413248"/>
            <a:ext cx="219456" cy="219456"/>
          </a:xfrm>
          <a:prstGeom prst="rect">
            <a:avLst/>
          </a:prstGeom>
        </p:spPr>
      </p:pic>
      <p:sp>
        <p:nvSpPr>
          <p:cNvPr id="38" name="Требование 4.3"/>
          <p:cNvSpPr txBox="1"/>
          <p:nvPr/>
        </p:nvSpPr>
        <p:spPr>
          <a:xfrm>
            <a:off x="6949440" y="535838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Docker-образ, проверка в CI</a:t>
            </a:r>
            <a:endParaRPr lang="en-US" sz="1400" dirty="0"/>
          </a:p>
        </p:txBody>
      </p:sp>
      <p:pic>
        <p:nvPicPr>
          <p:cNvPr id="39" name="Галочка 4.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1112" y="5751576"/>
            <a:ext cx="219456" cy="219456"/>
          </a:xfrm>
          <a:prstGeom prst="rect">
            <a:avLst/>
          </a:prstGeom>
        </p:spPr>
      </p:pic>
      <p:sp>
        <p:nvSpPr>
          <p:cNvPr id="40" name="Требование 4.4"/>
          <p:cNvSpPr txBox="1"/>
          <p:nvPr/>
        </p:nvSpPr>
        <p:spPr>
          <a:xfrm>
            <a:off x="6949440" y="56967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Git: 30+ коммитов + 5 репо этапов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AI-агент на каждом этапе</a:t>
            </a:r>
            <a:endParaRPr lang="en-US" sz="3400" dirty="0"/>
          </a:p>
        </p:txBody>
      </p:sp>
      <p:sp>
        <p:nvSpPr>
          <p:cNvPr id="3" name="Этап 1"/>
          <p:cNvSpPr/>
          <p:nvPr/>
        </p:nvSpPr>
        <p:spPr>
          <a:xfrm>
            <a:off x="548640" y="1417320"/>
            <a:ext cx="2578608" cy="46634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4" name="Номер этапа 1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Цифра этапа 1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pic>
        <p:nvPicPr>
          <p:cNvPr id="6" name="Иконка этапа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1783080"/>
            <a:ext cx="457200" cy="457200"/>
          </a:xfrm>
          <a:prstGeom prst="rect">
            <a:avLst/>
          </a:prstGeom>
        </p:spPr>
      </p:pic>
      <p:sp>
        <p:nvSpPr>
          <p:cNvPr id="7" name="Название этапа 1"/>
          <p:cNvSpPr txBox="1"/>
          <p:nvPr/>
        </p:nvSpPr>
        <p:spPr>
          <a:xfrm>
            <a:off x="822960" y="251460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Планирование</a:t>
            </a:r>
            <a:endParaRPr lang="en-US" sz="1800" dirty="0"/>
          </a:p>
        </p:txBody>
      </p:sp>
      <p:sp>
        <p:nvSpPr>
          <p:cNvPr id="8" name="Где сделан этап 1"/>
          <p:cNvSpPr txBox="1"/>
          <p:nvPr/>
        </p:nvSpPr>
        <p:spPr>
          <a:xfrm>
            <a:off x="822960" y="290779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ДЗ 1–3 + итог</a:t>
            </a:r>
            <a:endParaRPr lang="en-US" sz="1200" dirty="0"/>
          </a:p>
        </p:txBody>
      </p:sp>
      <p:sp>
        <p:nvSpPr>
          <p:cNvPr id="9" name="Что сделано на этапе 1"/>
          <p:cNvSpPr txBox="1"/>
          <p:nvPr/>
        </p:nvSpPr>
        <p:spPr>
          <a:xfrm>
            <a:off x="822960" y="3337560"/>
            <a:ext cx="21214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выбор агента: 25 из 30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правила проекта, 12 пунктов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 UI-концепции в 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8 User Stories, ТЗ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анализ 7 конкурентов</a:t>
            </a:r>
            <a:endParaRPr lang="en-US" sz="1300" dirty="0"/>
          </a:p>
        </p:txBody>
      </p:sp>
      <p:sp>
        <p:nvSpPr>
          <p:cNvPr id="10" name="Этап 2"/>
          <p:cNvSpPr/>
          <p:nvPr/>
        </p:nvSpPr>
        <p:spPr>
          <a:xfrm>
            <a:off x="3337560" y="1417320"/>
            <a:ext cx="2578608" cy="46634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1" name="Номер этапа 2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Цифра этапа 2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pic>
        <p:nvPicPr>
          <p:cNvPr id="13" name="Иконка этапа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783080"/>
            <a:ext cx="457200" cy="457200"/>
          </a:xfrm>
          <a:prstGeom prst="rect">
            <a:avLst/>
          </a:prstGeom>
        </p:spPr>
      </p:pic>
      <p:sp>
        <p:nvSpPr>
          <p:cNvPr id="14" name="Название этапа 2"/>
          <p:cNvSpPr txBox="1"/>
          <p:nvPr/>
        </p:nvSpPr>
        <p:spPr>
          <a:xfrm>
            <a:off x="3611880" y="251460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Разработка</a:t>
            </a:r>
            <a:endParaRPr lang="en-US" sz="1800" dirty="0"/>
          </a:p>
        </p:txBody>
      </p:sp>
      <p:sp>
        <p:nvSpPr>
          <p:cNvPr id="15" name="Где сделан этап 2"/>
          <p:cNvSpPr txBox="1"/>
          <p:nvPr/>
        </p:nvSpPr>
        <p:spPr>
          <a:xfrm>
            <a:off x="3611880" y="290779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ДЗ 4 + итог</a:t>
            </a:r>
            <a:endParaRPr lang="en-US" sz="1200" dirty="0"/>
          </a:p>
        </p:txBody>
      </p:sp>
      <p:sp>
        <p:nvSpPr>
          <p:cNvPr id="16" name="Что сделано на этапе 2"/>
          <p:cNvSpPr txBox="1"/>
          <p:nvPr/>
        </p:nvSpPr>
        <p:spPr>
          <a:xfrm>
            <a:off x="3611880" y="3337560"/>
            <a:ext cx="21214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каркас Vite + React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компоненты по шаблону RTCF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рефакторинг по тестам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CRUD замеров</a:t>
            </a:r>
            <a:endParaRPr lang="en-US" sz="1300" dirty="0"/>
          </a:p>
        </p:txBody>
      </p:sp>
      <p:sp>
        <p:nvSpPr>
          <p:cNvPr id="17" name="Этап 3"/>
          <p:cNvSpPr/>
          <p:nvPr/>
        </p:nvSpPr>
        <p:spPr>
          <a:xfrm>
            <a:off x="6126480" y="1417320"/>
            <a:ext cx="2578608" cy="46634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8" name="Номер этапа 3"/>
          <p:cNvSpPr/>
          <p:nvPr/>
        </p:nvSpPr>
        <p:spPr>
          <a:xfrm>
            <a:off x="640080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Цифра этапа 3"/>
          <p:cNvSpPr txBox="1"/>
          <p:nvPr/>
        </p:nvSpPr>
        <p:spPr>
          <a:xfrm>
            <a:off x="64008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pic>
        <p:nvPicPr>
          <p:cNvPr id="20" name="Иконка этапа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783080"/>
            <a:ext cx="457200" cy="457200"/>
          </a:xfrm>
          <a:prstGeom prst="rect">
            <a:avLst/>
          </a:prstGeom>
        </p:spPr>
      </p:pic>
      <p:sp>
        <p:nvSpPr>
          <p:cNvPr id="21" name="Название этапа 3"/>
          <p:cNvSpPr txBox="1"/>
          <p:nvPr/>
        </p:nvSpPr>
        <p:spPr>
          <a:xfrm>
            <a:off x="6400800" y="251460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Backend и инфра</a:t>
            </a:r>
            <a:endParaRPr lang="en-US" sz="1800" dirty="0"/>
          </a:p>
        </p:txBody>
      </p:sp>
      <p:sp>
        <p:nvSpPr>
          <p:cNvPr id="22" name="Где сделан этап 3"/>
          <p:cNvSpPr txBox="1"/>
          <p:nvPr/>
        </p:nvSpPr>
        <p:spPr>
          <a:xfrm>
            <a:off x="6400800" y="290779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ДЗ 5–6</a:t>
            </a:r>
            <a:endParaRPr lang="en-US" sz="1200" dirty="0"/>
          </a:p>
        </p:txBody>
      </p:sp>
      <p:sp>
        <p:nvSpPr>
          <p:cNvPr id="23" name="Что сделано на этапе 3"/>
          <p:cNvSpPr txBox="1"/>
          <p:nvPr/>
        </p:nvSpPr>
        <p:spPr>
          <a:xfrm>
            <a:off x="6400800" y="3337560"/>
            <a:ext cx="21214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схема на 7 таблиц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6 миграций, политики RLS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CI/CD, превью, мониторинг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Docker-образ</a:t>
            </a:r>
            <a:endParaRPr lang="en-US" sz="1300" dirty="0"/>
          </a:p>
        </p:txBody>
      </p:sp>
      <p:sp>
        <p:nvSpPr>
          <p:cNvPr id="24" name="Этап 4"/>
          <p:cNvSpPr/>
          <p:nvPr/>
        </p:nvSpPr>
        <p:spPr>
          <a:xfrm>
            <a:off x="8915400" y="1417320"/>
            <a:ext cx="2578608" cy="46634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25" name="Номер этапа 4"/>
          <p:cNvSpPr/>
          <p:nvPr/>
        </p:nvSpPr>
        <p:spPr>
          <a:xfrm>
            <a:off x="91897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Цифра этапа 4"/>
          <p:cNvSpPr txBox="1"/>
          <p:nvPr/>
        </p:nvSpPr>
        <p:spPr>
          <a:xfrm>
            <a:off x="91897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pic>
        <p:nvPicPr>
          <p:cNvPr id="27" name="Иконка этапа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488" y="1783080"/>
            <a:ext cx="457200" cy="457200"/>
          </a:xfrm>
          <a:prstGeom prst="rect">
            <a:avLst/>
          </a:prstGeom>
        </p:spPr>
      </p:pic>
      <p:sp>
        <p:nvSpPr>
          <p:cNvPr id="28" name="Название этапа 4"/>
          <p:cNvSpPr txBox="1"/>
          <p:nvPr/>
        </p:nvSpPr>
        <p:spPr>
          <a:xfrm>
            <a:off x="9189720" y="251460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Отладка</a:t>
            </a:r>
            <a:endParaRPr lang="en-US" sz="1800" dirty="0"/>
          </a:p>
        </p:txBody>
      </p:sp>
      <p:sp>
        <p:nvSpPr>
          <p:cNvPr id="29" name="Где сделан этап 4"/>
          <p:cNvSpPr txBox="1"/>
          <p:nvPr/>
        </p:nvSpPr>
        <p:spPr>
          <a:xfrm>
            <a:off x="9189720" y="290779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ДЗ 6</a:t>
            </a:r>
            <a:endParaRPr lang="en-US" sz="1200" dirty="0"/>
          </a:p>
        </p:txBody>
      </p:sp>
      <p:sp>
        <p:nvSpPr>
          <p:cNvPr id="30" name="Что сделано на этапе 4"/>
          <p:cNvSpPr txBox="1"/>
          <p:nvPr/>
        </p:nvSpPr>
        <p:spPr>
          <a:xfrm>
            <a:off x="9189720" y="3337560"/>
            <a:ext cx="21214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разбор логов: 3 промпта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Lighthouse до/после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аудит по OWASP Top 10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Правила важнее длинных промптов</a:t>
            </a:r>
            <a:endParaRPr lang="en-US" sz="3400" dirty="0"/>
          </a:p>
        </p:txBody>
      </p:sp>
      <p:sp>
        <p:nvSpPr>
          <p:cNvPr id="3" name="Промпт"/>
          <p:cNvSpPr/>
          <p:nvPr/>
        </p:nvSpPr>
        <p:spPr>
          <a:xfrm>
            <a:off x="548640" y="1417320"/>
            <a:ext cx="658368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4" name="Заголовок промпта"/>
          <p:cNvSpPr txBox="1"/>
          <p:nvPr/>
        </p:nvSpPr>
        <p:spPr>
          <a:xfrm>
            <a:off x="914400" y="1600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Пример промпта (ДЗ 4, шаблон RTCF)</a:t>
            </a:r>
            <a:endParaRPr lang="en-US" sz="1400" dirty="0"/>
          </a:p>
        </p:txBody>
      </p:sp>
      <p:sp>
        <p:nvSpPr>
          <p:cNvPr id="5" name="Текст промпта"/>
          <p:cNvSpPr txBox="1"/>
          <p:nvPr/>
        </p:nvSpPr>
        <p:spPr>
          <a:xfrm>
            <a:off x="914400" y="21488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 Frontend-разработчик на React + TypeScript + Tailwind.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карточка упражнения с вводом веса по подходам.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показывать прошлую тренировку как подсказку; только неотрицательный вес; при обрыве связи не терять введённое.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строгие типы без any; состояния loading / error / success; в конце — как проверить.</a:t>
            </a:r>
            <a:endParaRPr lang="en-US" sz="1600" dirty="0"/>
          </a:p>
        </p:txBody>
      </p:sp>
      <p:sp>
        <p:nvSpPr>
          <p:cNvPr id="6" name="Заголовок эксперимента"/>
          <p:cNvSpPr txBox="1"/>
          <p:nvPr/>
        </p:nvSpPr>
        <p:spPr>
          <a:xfrm>
            <a:off x="7498080" y="1463040"/>
            <a:ext cx="4144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Эксперимент: одна задача — без правил и с правилами</a:t>
            </a:r>
            <a:endParaRPr lang="en-US" sz="1600" dirty="0"/>
          </a:p>
        </p:txBody>
      </p:sp>
      <p:sp>
        <p:nvSpPr>
          <p:cNvPr id="7" name="Результат эксперимента"/>
          <p:cNvSpPr txBox="1"/>
          <p:nvPr/>
        </p:nvSpPr>
        <p:spPr>
          <a:xfrm>
            <a:off x="7498080" y="2240280"/>
            <a:ext cx="4144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</a:rPr>
              <a:t>0/8</a:t>
            </a:r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  →  </a:t>
            </a:r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8/8</a:t>
            </a:r>
            <a:endParaRPr lang="en-US" sz="6000" dirty="0"/>
          </a:p>
        </p:txBody>
      </p:sp>
      <p:sp>
        <p:nvSpPr>
          <p:cNvPr id="8" name="Пояснение эксперимента"/>
          <p:cNvSpPr txBox="1"/>
          <p:nvPr/>
        </p:nvSpPr>
        <p:spPr>
          <a:xfrm>
            <a:off x="7498080" y="3474720"/>
            <a:ext cx="4144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критериев качества: TypeScript вместо JS без типов, нужная папка, тест, русские подписи</a:t>
            </a:r>
            <a:endParaRPr lang="en-US" sz="1400" dirty="0"/>
          </a:p>
        </p:txBody>
      </p:sp>
      <p:sp>
        <p:nvSpPr>
          <p:cNvPr id="9" name="Про правила"/>
          <p:cNvSpPr txBox="1"/>
          <p:nvPr/>
        </p:nvSpPr>
        <p:spPr>
          <a:xfrm>
            <a:off x="7498080" y="4434840"/>
            <a:ext cx="41449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Файл правил проекта: 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объяснять простым языком, чекпоинты с показом изменений, не пушить без разрешения, секреты — только в .env.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Где AI ошибался — и как это ловили</a:t>
            </a:r>
            <a:endParaRPr lang="en-US" sz="3400" dirty="0"/>
          </a:p>
        </p:txBody>
      </p:sp>
      <p:sp>
        <p:nvSpPr>
          <p:cNvPr id="3" name="Случай 1"/>
          <p:cNvSpPr/>
          <p:nvPr/>
        </p:nvSpPr>
        <p:spPr>
          <a:xfrm>
            <a:off x="548640" y="1417320"/>
            <a:ext cx="53492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4" name="Заголовок случая 1"/>
          <p:cNvSpPr txBox="1"/>
          <p:nvPr/>
        </p:nvSpPr>
        <p:spPr>
          <a:xfrm>
            <a:off x="868680" y="16459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Перенёс структуру моков в базу</a:t>
            </a:r>
            <a:endParaRPr lang="en-US" sz="1800" dirty="0"/>
          </a:p>
        </p:txBody>
      </p:sp>
      <p:sp>
        <p:nvSpPr>
          <p:cNvPr id="5" name="Проблема случая 1"/>
          <p:cNvSpPr txBox="1"/>
          <p:nvPr/>
        </p:nvSpPr>
        <p:spPr>
          <a:xfrm>
            <a:off x="868680" y="213055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Поле «в прошлый раз» легло прямо в таблицу упражнений.</a:t>
            </a:r>
            <a:endParaRPr lang="en-US" sz="1400" dirty="0"/>
          </a:p>
        </p:txBody>
      </p:sp>
      <p:sp>
        <p:nvSpPr>
          <p:cNvPr id="6" name="Фон решения 1"/>
          <p:cNvSpPr/>
          <p:nvPr/>
        </p:nvSpPr>
        <p:spPr>
          <a:xfrm>
            <a:off x="868680" y="2788920"/>
            <a:ext cx="470916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7" name="Решение случая 1"/>
          <p:cNvSpPr txBox="1"/>
          <p:nvPr/>
        </p:nvSpPr>
        <p:spPr>
          <a:xfrm>
            <a:off x="1005840" y="27889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Вопрос «а если участниц две?» → представление last_workout_sets.</a:t>
            </a:r>
            <a:endParaRPr lang="en-US" sz="1300" dirty="0"/>
          </a:p>
        </p:txBody>
      </p:sp>
      <p:sp>
        <p:nvSpPr>
          <p:cNvPr id="8" name="Случай 2"/>
          <p:cNvSpPr/>
          <p:nvPr/>
        </p:nvSpPr>
        <p:spPr>
          <a:xfrm>
            <a:off x="6291072" y="1417320"/>
            <a:ext cx="53492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9" name="Заголовок случая 2"/>
          <p:cNvSpPr txBox="1"/>
          <p:nvPr/>
        </p:nvSpPr>
        <p:spPr>
          <a:xfrm>
            <a:off x="6611112" y="16459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Зелёная проверка, нерабочий сайт</a:t>
            </a:r>
            <a:endParaRPr lang="en-US" sz="1800" dirty="0"/>
          </a:p>
        </p:txBody>
      </p:sp>
      <p:sp>
        <p:nvSpPr>
          <p:cNvPr id="10" name="Проблема случая 2"/>
          <p:cNvSpPr txBox="1"/>
          <p:nvPr/>
        </p:nvSpPr>
        <p:spPr>
          <a:xfrm>
            <a:off x="6611112" y="213055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Sensitive-переменные Vercel пришли в сборку заглушкой — кабинет без базы.</a:t>
            </a:r>
            <a:endParaRPr lang="en-US" sz="1400" dirty="0"/>
          </a:p>
        </p:txBody>
      </p:sp>
      <p:sp>
        <p:nvSpPr>
          <p:cNvPr id="11" name="Фон решения 2"/>
          <p:cNvSpPr/>
          <p:nvPr/>
        </p:nvSpPr>
        <p:spPr>
          <a:xfrm>
            <a:off x="6611112" y="2788920"/>
            <a:ext cx="470916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12" name="Решение случая 2"/>
          <p:cNvSpPr txBox="1"/>
          <p:nvPr/>
        </p:nvSpPr>
        <p:spPr>
          <a:xfrm>
            <a:off x="6748272" y="27889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Теперь сборка без адреса базы останавливает выкладку.</a:t>
            </a:r>
            <a:endParaRPr lang="en-US" sz="1300" dirty="0"/>
          </a:p>
        </p:txBody>
      </p:sp>
      <p:sp>
        <p:nvSpPr>
          <p:cNvPr id="13" name="Случай 3"/>
          <p:cNvSpPr/>
          <p:nvPr/>
        </p:nvSpPr>
        <p:spPr>
          <a:xfrm>
            <a:off x="548640" y="3886200"/>
            <a:ext cx="53492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4" name="Заголовок случая 3"/>
          <p:cNvSpPr txBox="1"/>
          <p:nvPr/>
        </p:nvSpPr>
        <p:spPr>
          <a:xfrm>
            <a:off x="868680" y="4114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Своя миграция не прошла</a:t>
            </a:r>
            <a:endParaRPr lang="en-US" sz="1800" dirty="0"/>
          </a:p>
        </p:txBody>
      </p:sp>
      <p:sp>
        <p:nvSpPr>
          <p:cNvPr id="15" name="Проблема случая 3"/>
          <p:cNvSpPr txBox="1"/>
          <p:nvPr/>
        </p:nvSpPr>
        <p:spPr>
          <a:xfrm>
            <a:off x="868680" y="459943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Защитный триггер заблокировал саму миграцию.</a:t>
            </a:r>
            <a:endParaRPr lang="en-US" sz="1400" dirty="0"/>
          </a:p>
        </p:txBody>
      </p:sp>
      <p:sp>
        <p:nvSpPr>
          <p:cNvPr id="16" name="Фон решения 3"/>
          <p:cNvSpPr/>
          <p:nvPr/>
        </p:nvSpPr>
        <p:spPr>
          <a:xfrm>
            <a:off x="868680" y="5257800"/>
            <a:ext cx="470916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17" name="Решение случая 3"/>
          <p:cNvSpPr txBox="1"/>
          <p:nvPr/>
        </p:nvSpPr>
        <p:spPr>
          <a:xfrm>
            <a:off x="1005840" y="52578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Правило «не отдавай непроверенный SQL» → прогон на локальном PostgreSQL.</a:t>
            </a:r>
            <a:endParaRPr lang="en-US" sz="1300" dirty="0"/>
          </a:p>
        </p:txBody>
      </p:sp>
      <p:sp>
        <p:nvSpPr>
          <p:cNvPr id="18" name="Случай 4"/>
          <p:cNvSpPr/>
          <p:nvPr/>
        </p:nvSpPr>
        <p:spPr>
          <a:xfrm>
            <a:off x="6291072" y="3886200"/>
            <a:ext cx="53492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9" name="Заголовок случая 4"/>
          <p:cNvSpPr txBox="1"/>
          <p:nvPr/>
        </p:nvSpPr>
        <p:spPr>
          <a:xfrm>
            <a:off x="6611112" y="4114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Ложная гипотеза в логах</a:t>
            </a:r>
            <a:endParaRPr lang="en-US" sz="1800" dirty="0"/>
          </a:p>
        </p:txBody>
      </p:sp>
      <p:sp>
        <p:nvSpPr>
          <p:cNvPr id="20" name="Проблема случая 4"/>
          <p:cNvSpPr txBox="1"/>
          <p:nvPr/>
        </p:nvSpPr>
        <p:spPr>
          <a:xfrm>
            <a:off x="6611112" y="459943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AI предположил «двойной клик сохраняет замер дважды».</a:t>
            </a:r>
            <a:endParaRPr lang="en-US" sz="1400" dirty="0"/>
          </a:p>
        </p:txBody>
      </p:sp>
      <p:sp>
        <p:nvSpPr>
          <p:cNvPr id="21" name="Фон решения 4"/>
          <p:cNvSpPr/>
          <p:nvPr/>
        </p:nvSpPr>
        <p:spPr>
          <a:xfrm>
            <a:off x="6611112" y="5257800"/>
            <a:ext cx="470916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22" name="Решение случая 4"/>
          <p:cNvSpPr txBox="1"/>
          <p:nvPr/>
        </p:nvSpPr>
        <p:spPr>
          <a:xfrm>
            <a:off x="6748272" y="52578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Проверили код: кнопка уже блокируется — гипотеза отклонена.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Качество в цифрах</a:t>
            </a:r>
            <a:endParaRPr lang="en-US" sz="3400" dirty="0"/>
          </a:p>
        </p:txBody>
      </p:sp>
      <p:sp>
        <p:nvSpPr>
          <p:cNvPr id="3" name="Карточка графика"/>
          <p:cNvSpPr/>
          <p:nvPr/>
        </p:nvSpPr>
        <p:spPr>
          <a:xfrm>
            <a:off x="548640" y="141732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graphicFrame>
        <p:nvGraphicFramePr>
          <p:cNvPr id="4" name="График тестов" descr=""/>
          <p:cNvGraphicFramePr/>
          <p:nvPr/>
        </p:nvGraphicFramePr>
        <p:xfrm>
          <a:off x="731520" y="1554480"/>
          <a:ext cx="51206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Показатель 1"/>
          <p:cNvSpPr/>
          <p:nvPr/>
        </p:nvSpPr>
        <p:spPr>
          <a:xfrm>
            <a:off x="6400800" y="1417320"/>
            <a:ext cx="2483968" cy="219456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6" name="Число 1"/>
          <p:cNvSpPr txBox="1"/>
          <p:nvPr/>
        </p:nvSpPr>
        <p:spPr>
          <a:xfrm>
            <a:off x="6675120" y="1691640"/>
            <a:ext cx="1935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98–99</a:t>
            </a:r>
            <a:endParaRPr lang="en-US" sz="4000" dirty="0"/>
          </a:p>
        </p:txBody>
      </p:sp>
      <p:sp>
        <p:nvSpPr>
          <p:cNvPr id="7" name="Подпись числа 1"/>
          <p:cNvSpPr txBox="1"/>
          <p:nvPr/>
        </p:nvSpPr>
        <p:spPr>
          <a:xfrm>
            <a:off x="6675120" y="2606040"/>
            <a:ext cx="1935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Lighthouse Performance</a:t>
            </a:r>
            <a:endParaRPr lang="en-US" sz="1500" dirty="0"/>
          </a:p>
        </p:txBody>
      </p:sp>
      <p:sp>
        <p:nvSpPr>
          <p:cNvPr id="8" name="Пояснение числа 1"/>
          <p:cNvSpPr txBox="1"/>
          <p:nvPr/>
        </p:nvSpPr>
        <p:spPr>
          <a:xfrm>
            <a:off x="6675120" y="3017520"/>
            <a:ext cx="1935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было 78–86</a:t>
            </a:r>
            <a:endParaRPr lang="en-US" sz="1200" dirty="0"/>
          </a:p>
        </p:txBody>
      </p:sp>
      <p:sp>
        <p:nvSpPr>
          <p:cNvPr id="9" name="Показатель 2"/>
          <p:cNvSpPr/>
          <p:nvPr/>
        </p:nvSpPr>
        <p:spPr>
          <a:xfrm>
            <a:off x="9159088" y="1417320"/>
            <a:ext cx="2483968" cy="219456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0" name="Число 2"/>
          <p:cNvSpPr txBox="1"/>
          <p:nvPr/>
        </p:nvSpPr>
        <p:spPr>
          <a:xfrm>
            <a:off x="9433408" y="1691640"/>
            <a:ext cx="1935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1,7 с</a:t>
            </a:r>
            <a:endParaRPr lang="en-US" sz="4000" dirty="0"/>
          </a:p>
        </p:txBody>
      </p:sp>
      <p:sp>
        <p:nvSpPr>
          <p:cNvPr id="11" name="Подпись числа 2"/>
          <p:cNvSpPr txBox="1"/>
          <p:nvPr/>
        </p:nvSpPr>
        <p:spPr>
          <a:xfrm>
            <a:off x="9433408" y="2606040"/>
            <a:ext cx="1935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до первого содержимого</a:t>
            </a:r>
            <a:endParaRPr lang="en-US" sz="1500" dirty="0"/>
          </a:p>
        </p:txBody>
      </p:sp>
      <p:sp>
        <p:nvSpPr>
          <p:cNvPr id="12" name="Пояснение числа 2"/>
          <p:cNvSpPr txBox="1"/>
          <p:nvPr/>
        </p:nvSpPr>
        <p:spPr>
          <a:xfrm>
            <a:off x="9433408" y="3017520"/>
            <a:ext cx="1935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было 3,2–3,9 с</a:t>
            </a:r>
            <a:endParaRPr lang="en-US" sz="1200" dirty="0"/>
          </a:p>
        </p:txBody>
      </p:sp>
      <p:sp>
        <p:nvSpPr>
          <p:cNvPr id="13" name="Показатель 3"/>
          <p:cNvSpPr/>
          <p:nvPr/>
        </p:nvSpPr>
        <p:spPr>
          <a:xfrm>
            <a:off x="6400800" y="3886200"/>
            <a:ext cx="2483968" cy="219456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4" name="Число 3"/>
          <p:cNvSpPr txBox="1"/>
          <p:nvPr/>
        </p:nvSpPr>
        <p:spPr>
          <a:xfrm>
            <a:off x="6675120" y="4160520"/>
            <a:ext cx="1935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 из 6</a:t>
            </a:r>
            <a:endParaRPr lang="en-US" sz="4000" dirty="0"/>
          </a:p>
        </p:txBody>
      </p:sp>
      <p:sp>
        <p:nvSpPr>
          <p:cNvPr id="15" name="Подпись числа 3"/>
          <p:cNvSpPr txBox="1"/>
          <p:nvPr/>
        </p:nvSpPr>
        <p:spPr>
          <a:xfrm>
            <a:off x="6675120" y="5074920"/>
            <a:ext cx="1935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находок аудита исправлено</a:t>
            </a:r>
            <a:endParaRPr lang="en-US" sz="1500" dirty="0"/>
          </a:p>
        </p:txBody>
      </p:sp>
      <p:sp>
        <p:nvSpPr>
          <p:cNvPr id="16" name="Пояснение числа 3"/>
          <p:cNvSpPr txBox="1"/>
          <p:nvPr/>
        </p:nvSpPr>
        <p:spPr>
          <a:xfrm>
            <a:off x="6675120" y="5486400"/>
            <a:ext cx="1935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OWASP Top 10</a:t>
            </a:r>
            <a:endParaRPr lang="en-US" sz="1200" dirty="0"/>
          </a:p>
        </p:txBody>
      </p:sp>
      <p:sp>
        <p:nvSpPr>
          <p:cNvPr id="17" name="Показатель 4"/>
          <p:cNvSpPr/>
          <p:nvPr/>
        </p:nvSpPr>
        <p:spPr>
          <a:xfrm>
            <a:off x="9159088" y="3886200"/>
            <a:ext cx="2483968" cy="219456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8" name="Число 4"/>
          <p:cNvSpPr txBox="1"/>
          <p:nvPr/>
        </p:nvSpPr>
        <p:spPr>
          <a:xfrm>
            <a:off x="9433408" y="4160520"/>
            <a:ext cx="1935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~30 с</a:t>
            </a:r>
            <a:endParaRPr lang="en-US" sz="4000" dirty="0"/>
          </a:p>
        </p:txBody>
      </p:sp>
      <p:sp>
        <p:nvSpPr>
          <p:cNvPr id="19" name="Подпись числа 4"/>
          <p:cNvSpPr txBox="1"/>
          <p:nvPr/>
        </p:nvSpPr>
        <p:spPr>
          <a:xfrm>
            <a:off x="9433408" y="5074920"/>
            <a:ext cx="1935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проверки на каждый PR</a:t>
            </a:r>
            <a:endParaRPr lang="en-US" sz="1500" dirty="0"/>
          </a:p>
        </p:txBody>
      </p:sp>
      <p:sp>
        <p:nvSpPr>
          <p:cNvPr id="20" name="Пояснение числа 4"/>
          <p:cNvSpPr txBox="1"/>
          <p:nvPr/>
        </p:nvSpPr>
        <p:spPr>
          <a:xfrm>
            <a:off x="9433408" y="5486400"/>
            <a:ext cx="1935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форматирование, линтер, типы, тесты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Честно о компромиссах</a:t>
            </a:r>
            <a:endParaRPr lang="en-US" sz="3400" dirty="0"/>
          </a:p>
        </p:txBody>
      </p:sp>
      <p:sp>
        <p:nvSpPr>
          <p:cNvPr id="3" name="Компромисс 1"/>
          <p:cNvSpPr/>
          <p:nvPr/>
        </p:nvSpPr>
        <p:spPr>
          <a:xfrm>
            <a:off x="548640" y="1417320"/>
            <a:ext cx="11094415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4" name="Компромисс 1 круг"/>
          <p:cNvSpPr/>
          <p:nvPr/>
        </p:nvSpPr>
        <p:spPr>
          <a:xfrm>
            <a:off x="822960" y="1609344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Компромисс 1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69364"/>
            <a:ext cx="320040" cy="320040"/>
          </a:xfrm>
          <a:prstGeom prst="rect">
            <a:avLst/>
          </a:prstGeom>
        </p:spPr>
      </p:pic>
      <p:sp>
        <p:nvSpPr>
          <p:cNvPr id="6" name="Название компромисса 1"/>
          <p:cNvSpPr txBox="1"/>
          <p:nvPr/>
        </p:nvSpPr>
        <p:spPr>
          <a:xfrm>
            <a:off x="1737360" y="152704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Best Practices 75 из 100</a:t>
            </a:r>
            <a:endParaRPr lang="en-US" sz="1700" dirty="0"/>
          </a:p>
        </p:txBody>
      </p:sp>
      <p:sp>
        <p:nvSpPr>
          <p:cNvPr id="7" name="Объяснение компромисса 1"/>
          <p:cNvSpPr txBox="1"/>
          <p:nvPr/>
        </p:nvSpPr>
        <p:spPr>
          <a:xfrm>
            <a:off x="5394960" y="1527048"/>
            <a:ext cx="5973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Яндекс.Метрика ставит сторонние cookie. Оставили сознательно: аналитика важнее балла, причина задокументирована.</a:t>
            </a:r>
            <a:endParaRPr lang="en-US" sz="1400" dirty="0"/>
          </a:p>
        </p:txBody>
      </p:sp>
      <p:sp>
        <p:nvSpPr>
          <p:cNvPr id="8" name="Компромисс 2"/>
          <p:cNvSpPr/>
          <p:nvPr/>
        </p:nvSpPr>
        <p:spPr>
          <a:xfrm>
            <a:off x="548640" y="2606040"/>
            <a:ext cx="11094415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9" name="Компромисс 2 круг"/>
          <p:cNvSpPr/>
          <p:nvPr/>
        </p:nvSpPr>
        <p:spPr>
          <a:xfrm>
            <a:off x="822960" y="2798064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Компромисс 2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958084"/>
            <a:ext cx="320040" cy="320040"/>
          </a:xfrm>
          <a:prstGeom prst="rect">
            <a:avLst/>
          </a:prstGeom>
        </p:spPr>
      </p:pic>
      <p:sp>
        <p:nvSpPr>
          <p:cNvPr id="11" name="Название компромисса 2"/>
          <p:cNvSpPr txBox="1"/>
          <p:nvPr/>
        </p:nvSpPr>
        <p:spPr>
          <a:xfrm>
            <a:off x="1737360" y="271576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Google-вход в режиме Testing</a:t>
            </a:r>
            <a:endParaRPr lang="en-US" sz="1700" dirty="0"/>
          </a:p>
        </p:txBody>
      </p:sp>
      <p:sp>
        <p:nvSpPr>
          <p:cNvPr id="12" name="Объяснение компромисса 2"/>
          <p:cNvSpPr txBox="1"/>
          <p:nvPr/>
        </p:nvSpPr>
        <p:spPr>
          <a:xfrm>
            <a:off x="5394960" y="2715768"/>
            <a:ext cx="5973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Публикация приложения в Google требует проверки. Для куратора — демо-пароль.</a:t>
            </a:r>
            <a:endParaRPr lang="en-US" sz="1400" dirty="0"/>
          </a:p>
        </p:txBody>
      </p:sp>
      <p:sp>
        <p:nvSpPr>
          <p:cNvPr id="13" name="Компромисс 3"/>
          <p:cNvSpPr/>
          <p:nvPr/>
        </p:nvSpPr>
        <p:spPr>
          <a:xfrm>
            <a:off x="548640" y="3794760"/>
            <a:ext cx="11094415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4" name="Компромисс 3 круг"/>
          <p:cNvSpPr/>
          <p:nvPr/>
        </p:nvSpPr>
        <p:spPr>
          <a:xfrm>
            <a:off x="822960" y="3986784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Компромисс 3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146804"/>
            <a:ext cx="320040" cy="320040"/>
          </a:xfrm>
          <a:prstGeom prst="rect">
            <a:avLst/>
          </a:prstGeom>
        </p:spPr>
      </p:pic>
      <p:sp>
        <p:nvSpPr>
          <p:cNvPr id="16" name="Название компромисса 3"/>
          <p:cNvSpPr txBox="1"/>
          <p:nvPr/>
        </p:nvSpPr>
        <p:spPr>
          <a:xfrm>
            <a:off x="1737360" y="390448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Общая бесплатная база</a:t>
            </a:r>
            <a:endParaRPr lang="en-US" sz="1700" dirty="0"/>
          </a:p>
        </p:txBody>
      </p:sp>
      <p:sp>
        <p:nvSpPr>
          <p:cNvPr id="17" name="Объяснение компромисса 3"/>
          <p:cNvSpPr txBox="1"/>
          <p:nvPr/>
        </p:nvSpPr>
        <p:spPr>
          <a:xfrm>
            <a:off x="5394960" y="3904488"/>
            <a:ext cx="5973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Демо-таблицы живут в соседнем проекте Supabase: схемы сверены, есть скрипт уборки.</a:t>
            </a:r>
            <a:endParaRPr lang="en-US" sz="1400" dirty="0"/>
          </a:p>
        </p:txBody>
      </p:sp>
      <p:sp>
        <p:nvSpPr>
          <p:cNvPr id="18" name="Компромисс 4"/>
          <p:cNvSpPr/>
          <p:nvPr/>
        </p:nvSpPr>
        <p:spPr>
          <a:xfrm>
            <a:off x="548640" y="4983480"/>
            <a:ext cx="11094415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3A2E3A">
                <a:alpha val="12000"/>
              </a:srgbClr>
            </a:outerShdw>
          </a:effectLst>
        </p:spPr>
      </p:sp>
      <p:sp>
        <p:nvSpPr>
          <p:cNvPr id="19" name="Компромисс 4 круг"/>
          <p:cNvSpPr/>
          <p:nvPr/>
        </p:nvSpPr>
        <p:spPr>
          <a:xfrm>
            <a:off x="822960" y="5175504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Компромисс 4 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5335524"/>
            <a:ext cx="320040" cy="320040"/>
          </a:xfrm>
          <a:prstGeom prst="rect">
            <a:avLst/>
          </a:prstGeom>
        </p:spPr>
      </p:pic>
      <p:sp>
        <p:nvSpPr>
          <p:cNvPr id="21" name="Название компромисса 4"/>
          <p:cNvSpPr txBox="1"/>
          <p:nvPr/>
        </p:nvSpPr>
        <p:spPr>
          <a:xfrm>
            <a:off x="1737360" y="509320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Docker проверяется только в CI</a:t>
            </a:r>
            <a:endParaRPr lang="en-US" sz="1700" dirty="0"/>
          </a:p>
        </p:txBody>
      </p:sp>
      <p:sp>
        <p:nvSpPr>
          <p:cNvPr id="22" name="Объяснение компромисса 4"/>
          <p:cNvSpPr txBox="1"/>
          <p:nvPr/>
        </p:nvSpPr>
        <p:spPr>
          <a:xfrm>
            <a:off x="5394960" y="5093208"/>
            <a:ext cx="5973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На компьютере автора Docker нет — образ собирается и запускается в GitHub Actions.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Выводы</a:t>
            </a:r>
            <a:endParaRPr lang="en-US" sz="3400" dirty="0"/>
          </a:p>
        </p:txBody>
      </p:sp>
      <p:sp>
        <p:nvSpPr>
          <p:cNvPr id="3" name="Номер вывода 1"/>
          <p:cNvSpPr/>
          <p:nvPr/>
        </p:nvSpPr>
        <p:spPr>
          <a:xfrm>
            <a:off x="548640" y="137160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Цифра вывода 1"/>
          <p:cNvSpPr txBox="1"/>
          <p:nvPr/>
        </p:nvSpPr>
        <p:spPr>
          <a:xfrm>
            <a:off x="548640" y="1371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Вывод 1"/>
          <p:cNvSpPr txBox="1"/>
          <p:nvPr/>
        </p:nvSpPr>
        <p:spPr>
          <a:xfrm>
            <a:off x="1463040" y="12984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Правила до кода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Файл правил проекта дал больше, чем любой длинный промпт: 0/8 → 8/8.</a:t>
            </a:r>
            <a:endParaRPr lang="en-US" sz="2100" dirty="0"/>
          </a:p>
        </p:txBody>
      </p:sp>
      <p:sp>
        <p:nvSpPr>
          <p:cNvPr id="6" name="Номер вывода 2"/>
          <p:cNvSpPr/>
          <p:nvPr/>
        </p:nvSpPr>
        <p:spPr>
          <a:xfrm>
            <a:off x="548640" y="2340864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Цифра вывода 2"/>
          <p:cNvSpPr txBox="1"/>
          <p:nvPr/>
        </p:nvSpPr>
        <p:spPr>
          <a:xfrm>
            <a:off x="548640" y="23408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Вывод 2"/>
          <p:cNvSpPr txBox="1"/>
          <p:nvPr/>
        </p:nvSpPr>
        <p:spPr>
          <a:xfrm>
            <a:off x="1463040" y="226771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Маленькие чекпоинты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Не разработчик управляет агентом, если каждый шаг мал, проверяем и объяснён простыми словами.</a:t>
            </a:r>
            <a:endParaRPr lang="en-US" sz="2100" dirty="0"/>
          </a:p>
        </p:txBody>
      </p:sp>
      <p:sp>
        <p:nvSpPr>
          <p:cNvPr id="9" name="Номер вывода 3"/>
          <p:cNvSpPr/>
          <p:nvPr/>
        </p:nvSpPr>
        <p:spPr>
          <a:xfrm>
            <a:off x="548640" y="3310128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Цифра вывода 3"/>
          <p:cNvSpPr txBox="1"/>
          <p:nvPr/>
        </p:nvSpPr>
        <p:spPr>
          <a:xfrm>
            <a:off x="548640" y="3310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Вывод 3"/>
          <p:cNvSpPr txBox="1"/>
          <p:nvPr/>
        </p:nvSpPr>
        <p:spPr>
          <a:xfrm>
            <a:off x="1463040" y="3236976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Доказательства, а не обещания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Тест, запрос к базе, скриншот, /api/health с версией коммита.</a:t>
            </a:r>
            <a:endParaRPr lang="en-US" sz="2100" dirty="0"/>
          </a:p>
        </p:txBody>
      </p:sp>
      <p:sp>
        <p:nvSpPr>
          <p:cNvPr id="12" name="Номер вывода 4"/>
          <p:cNvSpPr/>
          <p:nvPr/>
        </p:nvSpPr>
        <p:spPr>
          <a:xfrm>
            <a:off x="548640" y="427939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Цифра вывода 4"/>
          <p:cNvSpPr txBox="1"/>
          <p:nvPr/>
        </p:nvSpPr>
        <p:spPr>
          <a:xfrm>
            <a:off x="548640" y="4279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Вывод 4"/>
          <p:cNvSpPr txBox="1"/>
          <p:nvPr/>
        </p:nvSpPr>
        <p:spPr>
          <a:xfrm>
            <a:off x="1463040" y="4206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Спорить с первым вариантом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Лучшие решения появились после вопроса «а что если…».</a:t>
            </a:r>
            <a:endParaRPr lang="en-US" sz="2100" dirty="0"/>
          </a:p>
        </p:txBody>
      </p:sp>
      <p:sp>
        <p:nvSpPr>
          <p:cNvPr id="15" name="Номер вывода 5"/>
          <p:cNvSpPr/>
          <p:nvPr/>
        </p:nvSpPr>
        <p:spPr>
          <a:xfrm>
            <a:off x="548640" y="5248656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Цифра вывода 5"/>
          <p:cNvSpPr txBox="1"/>
          <p:nvPr/>
        </p:nvSpPr>
        <p:spPr>
          <a:xfrm>
            <a:off x="548640" y="52486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17" name="Вывод 5"/>
          <p:cNvSpPr txBox="1"/>
          <p:nvPr/>
        </p:nvSpPr>
        <p:spPr>
          <a:xfrm>
            <a:off x="1463040" y="5175504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Человек — владелец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Пароли, ключи, пуш в рабочий проект, доступы и деньги — только у человека. Это делает работу безопасной без потери скорости.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Спасибо!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Попробуйте сами — демо-доступ ниже</a:t>
            </a:r>
            <a:endParaRPr lang="en-US" sz="2200" dirty="0"/>
          </a:p>
        </p:txBody>
      </p:sp>
      <p:sp>
        <p:nvSpPr>
          <p:cNvPr id="4" name="Ссылки"/>
          <p:cNvSpPr txBox="1"/>
          <p:nvPr/>
        </p:nvSpPr>
        <p:spPr>
          <a:xfrm>
            <a:off x="548640" y="45720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Сайт: 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lerree-lab-dz-cicd.vercel.app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Код и документы: 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github.com/zaremaabdulganieva-cmyk/lerree-lab-dz-cicd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Демо-вход: 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anna@demo.ru  /  demo1234</a:t>
            </a:r>
            <a:endParaRPr lang="en-US" sz="1800" dirty="0"/>
          </a:p>
        </p:txBody>
      </p:sp>
      <p:pic>
        <p:nvPicPr>
          <p:cNvPr id="5" name="Экран замеров" descr="/Users/worker/Desktop/lerree-lab-dz-cicd/docs/screenshots/final/m05-measurements-edit-mob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548640"/>
            <a:ext cx="2697480" cy="58374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erree Lab">
  <a:themeElements>
    <a:clrScheme name="Lerree Lab">
      <a:dk1>
        <a:srgbClr val="3A2E3A"/>
      </a:dk1>
      <a:lt1>
        <a:srgbClr val="FFFFFF"/>
      </a:lt1>
      <a:dk2>
        <a:srgbClr val="2E2333"/>
      </a:dk2>
      <a:lt2>
        <a:srgbClr val="FAF5F7"/>
      </a:lt2>
      <a:accent1>
        <a:srgbClr val="8467A8"/>
      </a:accent1>
      <a:accent2>
        <a:srgbClr val="D9A8B8"/>
      </a:accent2>
      <a:accent3>
        <a:srgbClr val="EDE4F2"/>
      </a:accent3>
      <a:accent4>
        <a:srgbClr val="736472"/>
      </a:accent4>
      <a:accent5>
        <a:srgbClr val="F5E4EB"/>
      </a:accent5>
      <a:accent6>
        <a:srgbClr val="5B4778"/>
      </a:accent6>
      <a:hlink>
        <a:srgbClr val="8467A8"/>
      </a:hlink>
      <a:folHlink>
        <a:srgbClr val="5B4778"/>
      </a:folHlink>
    </a:clrScheme>
    <a:fontScheme name="Lerree La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Lerree Lab — итоговый проект</dc:title>
  <dc:subject>PptxGenJS Presentation</dc:subject>
  <dc:creator>Зарема Абдулганиева</dc:creator>
  <cp:lastModifiedBy>Зарема Абдулганиева</cp:lastModifiedBy>
  <cp:revision>1</cp:revision>
  <dcterms:created xsi:type="dcterms:W3CDTF">2026-10-02T09:56:15Z</dcterms:created>
  <dcterms:modified xsi:type="dcterms:W3CDTF">2026-10-02T09:56:15Z</dcterms:modified>
</cp:coreProperties>
</file>